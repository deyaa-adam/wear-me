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9" r:id="rId26"/>
    <p:sldId id="290" r:id="rId27"/>
    <p:sldId id="291" r:id="rId28"/>
    <p:sldId id="292" r:id="rId29"/>
    <p:sldId id="293" r:id="rId30"/>
    <p:sldId id="294" r:id="rId31"/>
    <p:sldId id="295" r:id="rId32"/>
  </p:sldIdLst>
  <p:sldSz cx="12192000" cy="6858000"/>
  <p:notesSz cx="6858000" cy="9144000"/>
  <p:defaultTextStyle>
    <a:defPPr>
      <a:defRPr lang="en-J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theme" Target="theme/theme1.xml" 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 /><Relationship Id="rId2" Type="http://schemas.openxmlformats.org/officeDocument/2006/relationships/image" Target="../media/image3.svg" /><Relationship Id="rId1" Type="http://schemas.openxmlformats.org/officeDocument/2006/relationships/image" Target="../media/image2.svg" 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 /><Relationship Id="rId2" Type="http://schemas.openxmlformats.org/officeDocument/2006/relationships/image" Target="../media/image6.svg" /><Relationship Id="rId1" Type="http://schemas.openxmlformats.org/officeDocument/2006/relationships/image" Target="../media/image5.svg" /><Relationship Id="rId4" Type="http://schemas.openxmlformats.org/officeDocument/2006/relationships/image" Target="../media/image8.svg" 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 /><Relationship Id="rId2" Type="http://schemas.openxmlformats.org/officeDocument/2006/relationships/image" Target="../media/image11.svg" /><Relationship Id="rId1" Type="http://schemas.openxmlformats.org/officeDocument/2006/relationships/image" Target="../media/image7.svg" 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 /><Relationship Id="rId2" Type="http://schemas.openxmlformats.org/officeDocument/2006/relationships/image" Target="../media/image14.svg" /><Relationship Id="rId1" Type="http://schemas.openxmlformats.org/officeDocument/2006/relationships/image" Target="../media/image13.svg" 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 /><Relationship Id="rId2" Type="http://schemas.openxmlformats.org/officeDocument/2006/relationships/image" Target="../media/image17.svg" /><Relationship Id="rId1" Type="http://schemas.openxmlformats.org/officeDocument/2006/relationships/image" Target="../media/image16.svg" 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 /><Relationship Id="rId2" Type="http://schemas.openxmlformats.org/officeDocument/2006/relationships/image" Target="../media/image20.svg" /><Relationship Id="rId1" Type="http://schemas.openxmlformats.org/officeDocument/2006/relationships/image" Target="../media/image19.svg" 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 /><Relationship Id="rId2" Type="http://schemas.openxmlformats.org/officeDocument/2006/relationships/image" Target="../media/image3.svg" /><Relationship Id="rId1" Type="http://schemas.openxmlformats.org/officeDocument/2006/relationships/image" Target="../media/image2.svg" 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 /><Relationship Id="rId2" Type="http://schemas.openxmlformats.org/officeDocument/2006/relationships/image" Target="../media/image6.svg" /><Relationship Id="rId1" Type="http://schemas.openxmlformats.org/officeDocument/2006/relationships/image" Target="../media/image5.svg" /><Relationship Id="rId4" Type="http://schemas.openxmlformats.org/officeDocument/2006/relationships/image" Target="../media/image8.svg" 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 /><Relationship Id="rId2" Type="http://schemas.openxmlformats.org/officeDocument/2006/relationships/image" Target="../media/image11.svg" /><Relationship Id="rId1" Type="http://schemas.openxmlformats.org/officeDocument/2006/relationships/image" Target="../media/image7.svg" 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 /><Relationship Id="rId2" Type="http://schemas.openxmlformats.org/officeDocument/2006/relationships/image" Target="../media/image14.svg" /><Relationship Id="rId1" Type="http://schemas.openxmlformats.org/officeDocument/2006/relationships/image" Target="../media/image13.svg" 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 /><Relationship Id="rId2" Type="http://schemas.openxmlformats.org/officeDocument/2006/relationships/image" Target="../media/image17.svg" /><Relationship Id="rId1" Type="http://schemas.openxmlformats.org/officeDocument/2006/relationships/image" Target="../media/image16.svg" 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 /><Relationship Id="rId2" Type="http://schemas.openxmlformats.org/officeDocument/2006/relationships/image" Target="../media/image20.svg" /><Relationship Id="rId1" Type="http://schemas.openxmlformats.org/officeDocument/2006/relationships/image" Target="../media/image19.sv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F97DEA-D42A-43BB-86CD-6FDC2E8A7E1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00449FB-8397-4790-8810-38AD72387563}">
      <dgm:prSet/>
      <dgm:spPr/>
      <dgm:t>
        <a:bodyPr/>
        <a:lstStyle/>
        <a:p>
          <a:pPr>
            <a:defRPr cap="all"/>
          </a:pPr>
          <a:r>
            <a:rPr lang="en-US" b="1"/>
            <a:t>1. Autonomic Nervous System (ANS) Indicators</a:t>
          </a:r>
          <a:endParaRPr lang="en-US"/>
        </a:p>
      </dgm:t>
    </dgm:pt>
    <dgm:pt modelId="{9651221F-2259-451D-B461-B53FF5312F36}" type="parTrans" cxnId="{826BB04C-0BD6-46F6-A8ED-EA37ABC24CBA}">
      <dgm:prSet/>
      <dgm:spPr/>
      <dgm:t>
        <a:bodyPr/>
        <a:lstStyle/>
        <a:p>
          <a:endParaRPr lang="en-US"/>
        </a:p>
      </dgm:t>
    </dgm:pt>
    <dgm:pt modelId="{BBB5AF59-0E8E-4427-AB0A-517588C04CEF}" type="sibTrans" cxnId="{826BB04C-0BD6-46F6-A8ED-EA37ABC24CBA}">
      <dgm:prSet/>
      <dgm:spPr/>
      <dgm:t>
        <a:bodyPr/>
        <a:lstStyle/>
        <a:p>
          <a:endParaRPr lang="en-US"/>
        </a:p>
      </dgm:t>
    </dgm:pt>
    <dgm:pt modelId="{8FD5F010-B960-4B09-8B54-E26B26309A5E}">
      <dgm:prSet/>
      <dgm:spPr/>
      <dgm:t>
        <a:bodyPr/>
        <a:lstStyle/>
        <a:p>
          <a:pPr>
            <a:defRPr cap="all"/>
          </a:pPr>
          <a:r>
            <a:rPr lang="en-US" b="1"/>
            <a:t>Continuous Resting Heart Rate (RHR):</a:t>
          </a:r>
          <a:r>
            <a:rPr lang="en-US"/>
            <a:t> Monitors baseline cardiac activity.</a:t>
          </a:r>
        </a:p>
      </dgm:t>
    </dgm:pt>
    <dgm:pt modelId="{08AA8560-EA13-4C03-994C-129B3595170C}" type="parTrans" cxnId="{3DB8264B-3CC8-4E2A-9165-1D14163018EA}">
      <dgm:prSet/>
      <dgm:spPr/>
      <dgm:t>
        <a:bodyPr/>
        <a:lstStyle/>
        <a:p>
          <a:endParaRPr lang="en-US"/>
        </a:p>
      </dgm:t>
    </dgm:pt>
    <dgm:pt modelId="{249B2CF7-F8CA-49EA-BEB5-866AC290A89F}" type="sibTrans" cxnId="{3DB8264B-3CC8-4E2A-9165-1D14163018EA}">
      <dgm:prSet/>
      <dgm:spPr/>
      <dgm:t>
        <a:bodyPr/>
        <a:lstStyle/>
        <a:p>
          <a:endParaRPr lang="en-US"/>
        </a:p>
      </dgm:t>
    </dgm:pt>
    <dgm:pt modelId="{43EF4A4A-4C29-42E8-96A9-5C0A674947A5}">
      <dgm:prSet/>
      <dgm:spPr/>
      <dgm:t>
        <a:bodyPr/>
        <a:lstStyle/>
        <a:p>
          <a:pPr>
            <a:defRPr cap="all"/>
          </a:pPr>
          <a:r>
            <a:rPr lang="en-US" b="1"/>
            <a:t>Heart Rate Variability (HRV):</a:t>
          </a:r>
          <a:r>
            <a:rPr lang="en-US"/>
            <a:t> Captures autonomic nervous system stress and recovery responses.</a:t>
          </a:r>
        </a:p>
      </dgm:t>
    </dgm:pt>
    <dgm:pt modelId="{26755511-5908-4C25-96A3-4ABDECE05124}" type="parTrans" cxnId="{914D32B1-E387-4802-9526-6E2DD8F04490}">
      <dgm:prSet/>
      <dgm:spPr/>
      <dgm:t>
        <a:bodyPr/>
        <a:lstStyle/>
        <a:p>
          <a:endParaRPr lang="en-US"/>
        </a:p>
      </dgm:t>
    </dgm:pt>
    <dgm:pt modelId="{DEC53BCD-BD0A-45B4-8CC6-E7B2928F0C3F}" type="sibTrans" cxnId="{914D32B1-E387-4802-9526-6E2DD8F04490}">
      <dgm:prSet/>
      <dgm:spPr/>
      <dgm:t>
        <a:bodyPr/>
        <a:lstStyle/>
        <a:p>
          <a:endParaRPr lang="en-US"/>
        </a:p>
      </dgm:t>
    </dgm:pt>
    <dgm:pt modelId="{BF6FFF76-B6BC-4B80-B109-0F1B1EA588A9}" type="pres">
      <dgm:prSet presAssocID="{4CF97DEA-D42A-43BB-86CD-6FDC2E8A7E19}" presName="root" presStyleCnt="0">
        <dgm:presLayoutVars>
          <dgm:dir/>
          <dgm:resizeHandles val="exact"/>
        </dgm:presLayoutVars>
      </dgm:prSet>
      <dgm:spPr/>
    </dgm:pt>
    <dgm:pt modelId="{CC7874F8-AB47-4F9F-8581-F712A9D0F86A}" type="pres">
      <dgm:prSet presAssocID="{200449FB-8397-4790-8810-38AD72387563}" presName="compNode" presStyleCnt="0"/>
      <dgm:spPr/>
    </dgm:pt>
    <dgm:pt modelId="{E81C0891-CE17-427A-8277-769F948970F2}" type="pres">
      <dgm:prSet presAssocID="{200449FB-8397-4790-8810-38AD72387563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C0205D1-0323-4937-9468-77CF0D433274}" type="pres">
      <dgm:prSet presAssocID="{200449FB-8397-4790-8810-38AD7238756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E42D3BCD-CB17-48AC-8491-D75AEF7F2461}" type="pres">
      <dgm:prSet presAssocID="{200449FB-8397-4790-8810-38AD72387563}" presName="spaceRect" presStyleCnt="0"/>
      <dgm:spPr/>
    </dgm:pt>
    <dgm:pt modelId="{AED4203C-8E3C-4D84-ABC5-ED0F7DF75013}" type="pres">
      <dgm:prSet presAssocID="{200449FB-8397-4790-8810-38AD72387563}" presName="textRect" presStyleLbl="revTx" presStyleIdx="0" presStyleCnt="3">
        <dgm:presLayoutVars>
          <dgm:chMax val="1"/>
          <dgm:chPref val="1"/>
        </dgm:presLayoutVars>
      </dgm:prSet>
      <dgm:spPr/>
    </dgm:pt>
    <dgm:pt modelId="{A7DBD306-E673-41A2-83CE-94DADC62C68A}" type="pres">
      <dgm:prSet presAssocID="{BBB5AF59-0E8E-4427-AB0A-517588C04CEF}" presName="sibTrans" presStyleCnt="0"/>
      <dgm:spPr/>
    </dgm:pt>
    <dgm:pt modelId="{A2D268FA-03FF-469C-8968-DC93EF4BA445}" type="pres">
      <dgm:prSet presAssocID="{8FD5F010-B960-4B09-8B54-E26B26309A5E}" presName="compNode" presStyleCnt="0"/>
      <dgm:spPr/>
    </dgm:pt>
    <dgm:pt modelId="{D3DDEA5F-DC03-48BA-9AC1-71C40EBFFAFB}" type="pres">
      <dgm:prSet presAssocID="{8FD5F010-B960-4B09-8B54-E26B26309A5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D7F11B5-5CEF-491F-B867-4E1B292BC81E}" type="pres">
      <dgm:prSet presAssocID="{8FD5F010-B960-4B09-8B54-E26B26309A5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DDEAC3B6-3BB8-4D88-BDB4-00BFDD3D2B93}" type="pres">
      <dgm:prSet presAssocID="{8FD5F010-B960-4B09-8B54-E26B26309A5E}" presName="spaceRect" presStyleCnt="0"/>
      <dgm:spPr/>
    </dgm:pt>
    <dgm:pt modelId="{699F3DEE-A000-4C80-8E39-EA07AC3B01AA}" type="pres">
      <dgm:prSet presAssocID="{8FD5F010-B960-4B09-8B54-E26B26309A5E}" presName="textRect" presStyleLbl="revTx" presStyleIdx="1" presStyleCnt="3">
        <dgm:presLayoutVars>
          <dgm:chMax val="1"/>
          <dgm:chPref val="1"/>
        </dgm:presLayoutVars>
      </dgm:prSet>
      <dgm:spPr/>
    </dgm:pt>
    <dgm:pt modelId="{15DA7082-2283-4170-B042-CFA9F110171C}" type="pres">
      <dgm:prSet presAssocID="{249B2CF7-F8CA-49EA-BEB5-866AC290A89F}" presName="sibTrans" presStyleCnt="0"/>
      <dgm:spPr/>
    </dgm:pt>
    <dgm:pt modelId="{B07E6487-9266-4E06-AF37-DB3EA7329C8A}" type="pres">
      <dgm:prSet presAssocID="{43EF4A4A-4C29-42E8-96A9-5C0A674947A5}" presName="compNode" presStyleCnt="0"/>
      <dgm:spPr/>
    </dgm:pt>
    <dgm:pt modelId="{88B9A3DA-1F42-4C12-A33A-360F67991C0A}" type="pres">
      <dgm:prSet presAssocID="{43EF4A4A-4C29-42E8-96A9-5C0A674947A5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7953FDC-99D1-46C7-BB39-3C21FCD144CE}" type="pres">
      <dgm:prSet presAssocID="{43EF4A4A-4C29-42E8-96A9-5C0A674947A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5D2013AD-17FD-46F0-B37B-6215454CBFDC}" type="pres">
      <dgm:prSet presAssocID="{43EF4A4A-4C29-42E8-96A9-5C0A674947A5}" presName="spaceRect" presStyleCnt="0"/>
      <dgm:spPr/>
    </dgm:pt>
    <dgm:pt modelId="{2A5CAF21-26BA-4763-94DF-E730458B0914}" type="pres">
      <dgm:prSet presAssocID="{43EF4A4A-4C29-42E8-96A9-5C0A674947A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779B532-B257-4FDC-977B-4BFA3CEF5394}" type="presOf" srcId="{8FD5F010-B960-4B09-8B54-E26B26309A5E}" destId="{699F3DEE-A000-4C80-8E39-EA07AC3B01AA}" srcOrd="0" destOrd="0" presId="urn:microsoft.com/office/officeart/2018/5/layout/IconLeafLabelList"/>
    <dgm:cxn modelId="{3DB8264B-3CC8-4E2A-9165-1D14163018EA}" srcId="{4CF97DEA-D42A-43BB-86CD-6FDC2E8A7E19}" destId="{8FD5F010-B960-4B09-8B54-E26B26309A5E}" srcOrd="1" destOrd="0" parTransId="{08AA8560-EA13-4C03-994C-129B3595170C}" sibTransId="{249B2CF7-F8CA-49EA-BEB5-866AC290A89F}"/>
    <dgm:cxn modelId="{826BB04C-0BD6-46F6-A8ED-EA37ABC24CBA}" srcId="{4CF97DEA-D42A-43BB-86CD-6FDC2E8A7E19}" destId="{200449FB-8397-4790-8810-38AD72387563}" srcOrd="0" destOrd="0" parTransId="{9651221F-2259-451D-B461-B53FF5312F36}" sibTransId="{BBB5AF59-0E8E-4427-AB0A-517588C04CEF}"/>
    <dgm:cxn modelId="{914D32B1-E387-4802-9526-6E2DD8F04490}" srcId="{4CF97DEA-D42A-43BB-86CD-6FDC2E8A7E19}" destId="{43EF4A4A-4C29-42E8-96A9-5C0A674947A5}" srcOrd="2" destOrd="0" parTransId="{26755511-5908-4C25-96A3-4ABDECE05124}" sibTransId="{DEC53BCD-BD0A-45B4-8CC6-E7B2928F0C3F}"/>
    <dgm:cxn modelId="{499DAFC6-0AD7-4C7C-864B-23D74DB5B96D}" type="presOf" srcId="{200449FB-8397-4790-8810-38AD72387563}" destId="{AED4203C-8E3C-4D84-ABC5-ED0F7DF75013}" srcOrd="0" destOrd="0" presId="urn:microsoft.com/office/officeart/2018/5/layout/IconLeafLabelList"/>
    <dgm:cxn modelId="{01AB7ACB-3716-40FD-A697-CD8C4E2672D5}" type="presOf" srcId="{4CF97DEA-D42A-43BB-86CD-6FDC2E8A7E19}" destId="{BF6FFF76-B6BC-4B80-B109-0F1B1EA588A9}" srcOrd="0" destOrd="0" presId="urn:microsoft.com/office/officeart/2018/5/layout/IconLeafLabelList"/>
    <dgm:cxn modelId="{F7F6A7DE-828D-4BC5-A029-13376987DABA}" type="presOf" srcId="{43EF4A4A-4C29-42E8-96A9-5C0A674947A5}" destId="{2A5CAF21-26BA-4763-94DF-E730458B0914}" srcOrd="0" destOrd="0" presId="urn:microsoft.com/office/officeart/2018/5/layout/IconLeafLabelList"/>
    <dgm:cxn modelId="{31D9F44D-DC4E-493F-8569-3BBFD0A2BCB6}" type="presParOf" srcId="{BF6FFF76-B6BC-4B80-B109-0F1B1EA588A9}" destId="{CC7874F8-AB47-4F9F-8581-F712A9D0F86A}" srcOrd="0" destOrd="0" presId="urn:microsoft.com/office/officeart/2018/5/layout/IconLeafLabelList"/>
    <dgm:cxn modelId="{A21A3152-D9A8-4664-9D97-9D5CE97A03C9}" type="presParOf" srcId="{CC7874F8-AB47-4F9F-8581-F712A9D0F86A}" destId="{E81C0891-CE17-427A-8277-769F948970F2}" srcOrd="0" destOrd="0" presId="urn:microsoft.com/office/officeart/2018/5/layout/IconLeafLabelList"/>
    <dgm:cxn modelId="{884B607F-0677-4E57-BA13-06B2AE577840}" type="presParOf" srcId="{CC7874F8-AB47-4F9F-8581-F712A9D0F86A}" destId="{0C0205D1-0323-4937-9468-77CF0D433274}" srcOrd="1" destOrd="0" presId="urn:microsoft.com/office/officeart/2018/5/layout/IconLeafLabelList"/>
    <dgm:cxn modelId="{940BD2AE-8462-477E-A91D-91CEA4041104}" type="presParOf" srcId="{CC7874F8-AB47-4F9F-8581-F712A9D0F86A}" destId="{E42D3BCD-CB17-48AC-8491-D75AEF7F2461}" srcOrd="2" destOrd="0" presId="urn:microsoft.com/office/officeart/2018/5/layout/IconLeafLabelList"/>
    <dgm:cxn modelId="{5CB71BA0-488A-4FF5-8B87-6B0ACC0501FE}" type="presParOf" srcId="{CC7874F8-AB47-4F9F-8581-F712A9D0F86A}" destId="{AED4203C-8E3C-4D84-ABC5-ED0F7DF75013}" srcOrd="3" destOrd="0" presId="urn:microsoft.com/office/officeart/2018/5/layout/IconLeafLabelList"/>
    <dgm:cxn modelId="{D08337B4-E9C5-4893-B087-BE4DC641FB78}" type="presParOf" srcId="{BF6FFF76-B6BC-4B80-B109-0F1B1EA588A9}" destId="{A7DBD306-E673-41A2-83CE-94DADC62C68A}" srcOrd="1" destOrd="0" presId="urn:microsoft.com/office/officeart/2018/5/layout/IconLeafLabelList"/>
    <dgm:cxn modelId="{54C29BFA-3C1C-447B-A7CE-2DFEDE8A00A3}" type="presParOf" srcId="{BF6FFF76-B6BC-4B80-B109-0F1B1EA588A9}" destId="{A2D268FA-03FF-469C-8968-DC93EF4BA445}" srcOrd="2" destOrd="0" presId="urn:microsoft.com/office/officeart/2018/5/layout/IconLeafLabelList"/>
    <dgm:cxn modelId="{95770FBB-2566-4565-9AEA-2F258150D681}" type="presParOf" srcId="{A2D268FA-03FF-469C-8968-DC93EF4BA445}" destId="{D3DDEA5F-DC03-48BA-9AC1-71C40EBFFAFB}" srcOrd="0" destOrd="0" presId="urn:microsoft.com/office/officeart/2018/5/layout/IconLeafLabelList"/>
    <dgm:cxn modelId="{77F1984C-223E-484C-BC80-B191F1EC7055}" type="presParOf" srcId="{A2D268FA-03FF-469C-8968-DC93EF4BA445}" destId="{AD7F11B5-5CEF-491F-B867-4E1B292BC81E}" srcOrd="1" destOrd="0" presId="urn:microsoft.com/office/officeart/2018/5/layout/IconLeafLabelList"/>
    <dgm:cxn modelId="{E61BDC40-E979-45B2-95E3-DD8091CB432A}" type="presParOf" srcId="{A2D268FA-03FF-469C-8968-DC93EF4BA445}" destId="{DDEAC3B6-3BB8-4D88-BDB4-00BFDD3D2B93}" srcOrd="2" destOrd="0" presId="urn:microsoft.com/office/officeart/2018/5/layout/IconLeafLabelList"/>
    <dgm:cxn modelId="{FB2DA94C-9445-40B2-BE64-491241765E84}" type="presParOf" srcId="{A2D268FA-03FF-469C-8968-DC93EF4BA445}" destId="{699F3DEE-A000-4C80-8E39-EA07AC3B01AA}" srcOrd="3" destOrd="0" presId="urn:microsoft.com/office/officeart/2018/5/layout/IconLeafLabelList"/>
    <dgm:cxn modelId="{5BC69AE8-D0E2-460B-A78F-DF3EA696B3C3}" type="presParOf" srcId="{BF6FFF76-B6BC-4B80-B109-0F1B1EA588A9}" destId="{15DA7082-2283-4170-B042-CFA9F110171C}" srcOrd="3" destOrd="0" presId="urn:microsoft.com/office/officeart/2018/5/layout/IconLeafLabelList"/>
    <dgm:cxn modelId="{76A0DF69-3F20-4B7A-88DA-61907AF6FBEF}" type="presParOf" srcId="{BF6FFF76-B6BC-4B80-B109-0F1B1EA588A9}" destId="{B07E6487-9266-4E06-AF37-DB3EA7329C8A}" srcOrd="4" destOrd="0" presId="urn:microsoft.com/office/officeart/2018/5/layout/IconLeafLabelList"/>
    <dgm:cxn modelId="{48D1E903-B733-4F27-9AFF-4C4139EE5885}" type="presParOf" srcId="{B07E6487-9266-4E06-AF37-DB3EA7329C8A}" destId="{88B9A3DA-1F42-4C12-A33A-360F67991C0A}" srcOrd="0" destOrd="0" presId="urn:microsoft.com/office/officeart/2018/5/layout/IconLeafLabelList"/>
    <dgm:cxn modelId="{B49E9050-39F2-4215-85A4-3A509D070C91}" type="presParOf" srcId="{B07E6487-9266-4E06-AF37-DB3EA7329C8A}" destId="{27953FDC-99D1-46C7-BB39-3C21FCD144CE}" srcOrd="1" destOrd="0" presId="urn:microsoft.com/office/officeart/2018/5/layout/IconLeafLabelList"/>
    <dgm:cxn modelId="{7D2E41C4-F94C-44E8-882C-74F3FCCEDE97}" type="presParOf" srcId="{B07E6487-9266-4E06-AF37-DB3EA7329C8A}" destId="{5D2013AD-17FD-46F0-B37B-6215454CBFDC}" srcOrd="2" destOrd="0" presId="urn:microsoft.com/office/officeart/2018/5/layout/IconLeafLabelList"/>
    <dgm:cxn modelId="{FD914817-7B5A-4CD2-B974-13D02835124E}" type="presParOf" srcId="{B07E6487-9266-4E06-AF37-DB3EA7329C8A}" destId="{2A5CAF21-26BA-4763-94DF-E730458B091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0F0574-C9CA-477A-A09D-41367C7325C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1051E51-B4FB-43EA-89A2-1E35E1509625}">
      <dgm:prSet/>
      <dgm:spPr/>
      <dgm:t>
        <a:bodyPr/>
        <a:lstStyle/>
        <a:p>
          <a:r>
            <a:rPr lang="en-US" b="1"/>
            <a:t>2. Physical Activity Metrics</a:t>
          </a:r>
          <a:endParaRPr lang="en-US"/>
        </a:p>
      </dgm:t>
    </dgm:pt>
    <dgm:pt modelId="{78FB5D47-26C4-44D0-A7D7-3F077281B9BB}" type="parTrans" cxnId="{5BDC2A9C-D4AE-4B73-B9C5-3871B51EB61F}">
      <dgm:prSet/>
      <dgm:spPr/>
      <dgm:t>
        <a:bodyPr/>
        <a:lstStyle/>
        <a:p>
          <a:endParaRPr lang="en-US"/>
        </a:p>
      </dgm:t>
    </dgm:pt>
    <dgm:pt modelId="{5596743F-0179-46AF-B011-4BDB6BEA1F84}" type="sibTrans" cxnId="{5BDC2A9C-D4AE-4B73-B9C5-3871B51EB61F}">
      <dgm:prSet/>
      <dgm:spPr/>
      <dgm:t>
        <a:bodyPr/>
        <a:lstStyle/>
        <a:p>
          <a:endParaRPr lang="en-US"/>
        </a:p>
      </dgm:t>
    </dgm:pt>
    <dgm:pt modelId="{D0481754-EEF8-492D-9096-1293B486E0BF}">
      <dgm:prSet/>
      <dgm:spPr/>
      <dgm:t>
        <a:bodyPr/>
        <a:lstStyle/>
        <a:p>
          <a:r>
            <a:rPr lang="en-US" b="1"/>
            <a:t>Daily Step Counts:</a:t>
          </a:r>
          <a:r>
            <a:rPr lang="en-US"/>
            <a:t> Tracks total daily movement.</a:t>
          </a:r>
        </a:p>
      </dgm:t>
    </dgm:pt>
    <dgm:pt modelId="{7748F768-6F59-4D4B-B643-1FE4344BC3AB}" type="parTrans" cxnId="{453F2A22-699B-4B83-A3CB-B0B47E6759E4}">
      <dgm:prSet/>
      <dgm:spPr/>
      <dgm:t>
        <a:bodyPr/>
        <a:lstStyle/>
        <a:p>
          <a:endParaRPr lang="en-US"/>
        </a:p>
      </dgm:t>
    </dgm:pt>
    <dgm:pt modelId="{12B7E969-88A2-4F2F-A14A-303FC8619A25}" type="sibTrans" cxnId="{453F2A22-699B-4B83-A3CB-B0B47E6759E4}">
      <dgm:prSet/>
      <dgm:spPr/>
      <dgm:t>
        <a:bodyPr/>
        <a:lstStyle/>
        <a:p>
          <a:endParaRPr lang="en-US"/>
        </a:p>
      </dgm:t>
    </dgm:pt>
    <dgm:pt modelId="{C834FF9F-9D4C-4CE4-9583-03AC226CA55C}">
      <dgm:prSet/>
      <dgm:spPr/>
      <dgm:t>
        <a:bodyPr/>
        <a:lstStyle/>
        <a:p>
          <a:r>
            <a:rPr lang="en-US" b="1"/>
            <a:t>Movement Intensity:</a:t>
          </a:r>
          <a:r>
            <a:rPr lang="en-US"/>
            <a:t> Classifies activity levels into light, moderate, or vigorous.</a:t>
          </a:r>
        </a:p>
      </dgm:t>
    </dgm:pt>
    <dgm:pt modelId="{2317C29D-7509-4513-AEA5-0869CC6C5629}" type="parTrans" cxnId="{CDAA6B16-7940-4163-A38B-A5308831A09D}">
      <dgm:prSet/>
      <dgm:spPr/>
      <dgm:t>
        <a:bodyPr/>
        <a:lstStyle/>
        <a:p>
          <a:endParaRPr lang="en-US"/>
        </a:p>
      </dgm:t>
    </dgm:pt>
    <dgm:pt modelId="{20701F93-069B-4FE8-93DB-928BE35C3DEC}" type="sibTrans" cxnId="{CDAA6B16-7940-4163-A38B-A5308831A09D}">
      <dgm:prSet/>
      <dgm:spPr/>
      <dgm:t>
        <a:bodyPr/>
        <a:lstStyle/>
        <a:p>
          <a:endParaRPr lang="en-US"/>
        </a:p>
      </dgm:t>
    </dgm:pt>
    <dgm:pt modelId="{DCA05DE1-17BE-4CA0-A579-4593F1209461}">
      <dgm:prSet/>
      <dgm:spPr/>
      <dgm:t>
        <a:bodyPr/>
        <a:lstStyle/>
        <a:p>
          <a:r>
            <a:rPr lang="en-US" b="1"/>
            <a:t>Sedentary Bouts:</a:t>
          </a:r>
          <a:r>
            <a:rPr lang="en-US"/>
            <a:t> Measures periods of prolonged inactivity.</a:t>
          </a:r>
        </a:p>
      </dgm:t>
    </dgm:pt>
    <dgm:pt modelId="{A66AC4E7-1014-4B05-BB50-2CC2AE87C9FF}" type="parTrans" cxnId="{71ED153E-EA24-444D-A965-43AE1C354185}">
      <dgm:prSet/>
      <dgm:spPr/>
      <dgm:t>
        <a:bodyPr/>
        <a:lstStyle/>
        <a:p>
          <a:endParaRPr lang="en-US"/>
        </a:p>
      </dgm:t>
    </dgm:pt>
    <dgm:pt modelId="{91E3B22B-E537-4259-91FB-D0FC59A65B20}" type="sibTrans" cxnId="{71ED153E-EA24-444D-A965-43AE1C354185}">
      <dgm:prSet/>
      <dgm:spPr/>
      <dgm:t>
        <a:bodyPr/>
        <a:lstStyle/>
        <a:p>
          <a:endParaRPr lang="en-US"/>
        </a:p>
      </dgm:t>
    </dgm:pt>
    <dgm:pt modelId="{5C2FF1FD-F040-4A58-BBFA-FD760D81D762}" type="pres">
      <dgm:prSet presAssocID="{1B0F0574-C9CA-477A-A09D-41367C7325C2}" presName="root" presStyleCnt="0">
        <dgm:presLayoutVars>
          <dgm:dir/>
          <dgm:resizeHandles val="exact"/>
        </dgm:presLayoutVars>
      </dgm:prSet>
      <dgm:spPr/>
    </dgm:pt>
    <dgm:pt modelId="{BAB12DD2-03C0-4C3B-8B21-F648BB1B0BCC}" type="pres">
      <dgm:prSet presAssocID="{1B0F0574-C9CA-477A-A09D-41367C7325C2}" presName="container" presStyleCnt="0">
        <dgm:presLayoutVars>
          <dgm:dir/>
          <dgm:resizeHandles val="exact"/>
        </dgm:presLayoutVars>
      </dgm:prSet>
      <dgm:spPr/>
    </dgm:pt>
    <dgm:pt modelId="{F70DD117-6E88-48FF-A235-B8FA001959B1}" type="pres">
      <dgm:prSet presAssocID="{41051E51-B4FB-43EA-89A2-1E35E1509625}" presName="compNode" presStyleCnt="0"/>
      <dgm:spPr/>
    </dgm:pt>
    <dgm:pt modelId="{5EF37ED8-B048-4C1F-8B7C-DAB8D10DE607}" type="pres">
      <dgm:prSet presAssocID="{41051E51-B4FB-43EA-89A2-1E35E1509625}" presName="iconBgRect" presStyleLbl="bgShp" presStyleIdx="0" presStyleCnt="4"/>
      <dgm:spPr/>
    </dgm:pt>
    <dgm:pt modelId="{D95CD192-3405-4FC3-A9A1-0F609C9F777B}" type="pres">
      <dgm:prSet presAssocID="{41051E51-B4FB-43EA-89A2-1E35E150962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57870450-542F-4B48-89FA-7771B97D9C38}" type="pres">
      <dgm:prSet presAssocID="{41051E51-B4FB-43EA-89A2-1E35E1509625}" presName="spaceRect" presStyleCnt="0"/>
      <dgm:spPr/>
    </dgm:pt>
    <dgm:pt modelId="{6AC3C63B-2B1B-4A26-8F3E-14368C4380D4}" type="pres">
      <dgm:prSet presAssocID="{41051E51-B4FB-43EA-89A2-1E35E1509625}" presName="textRect" presStyleLbl="revTx" presStyleIdx="0" presStyleCnt="4">
        <dgm:presLayoutVars>
          <dgm:chMax val="1"/>
          <dgm:chPref val="1"/>
        </dgm:presLayoutVars>
      </dgm:prSet>
      <dgm:spPr/>
    </dgm:pt>
    <dgm:pt modelId="{87FE2EB8-C0CE-46B9-9047-6C0A4E4F1516}" type="pres">
      <dgm:prSet presAssocID="{5596743F-0179-46AF-B011-4BDB6BEA1F84}" presName="sibTrans" presStyleLbl="sibTrans2D1" presStyleIdx="0" presStyleCnt="0"/>
      <dgm:spPr/>
    </dgm:pt>
    <dgm:pt modelId="{1490F5ED-0ADD-4122-A6BB-44C251D9A809}" type="pres">
      <dgm:prSet presAssocID="{D0481754-EEF8-492D-9096-1293B486E0BF}" presName="compNode" presStyleCnt="0"/>
      <dgm:spPr/>
    </dgm:pt>
    <dgm:pt modelId="{90CDA4EA-7041-4D5F-83D8-8B881CCD2760}" type="pres">
      <dgm:prSet presAssocID="{D0481754-EEF8-492D-9096-1293B486E0BF}" presName="iconBgRect" presStyleLbl="bgShp" presStyleIdx="1" presStyleCnt="4"/>
      <dgm:spPr/>
    </dgm:pt>
    <dgm:pt modelId="{4D5F4AFA-B1CB-45AD-8F90-F150232BCF2B}" type="pres">
      <dgm:prSet presAssocID="{D0481754-EEF8-492D-9096-1293B486E0B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DEAF6A8E-99AB-4E5E-8BE6-EF566C1AD819}" type="pres">
      <dgm:prSet presAssocID="{D0481754-EEF8-492D-9096-1293B486E0BF}" presName="spaceRect" presStyleCnt="0"/>
      <dgm:spPr/>
    </dgm:pt>
    <dgm:pt modelId="{FA54AAD1-56A2-4E88-ADBE-F056EABE31B8}" type="pres">
      <dgm:prSet presAssocID="{D0481754-EEF8-492D-9096-1293B486E0BF}" presName="textRect" presStyleLbl="revTx" presStyleIdx="1" presStyleCnt="4">
        <dgm:presLayoutVars>
          <dgm:chMax val="1"/>
          <dgm:chPref val="1"/>
        </dgm:presLayoutVars>
      </dgm:prSet>
      <dgm:spPr/>
    </dgm:pt>
    <dgm:pt modelId="{3040F24A-05CB-4BFC-B530-CE251CFB6065}" type="pres">
      <dgm:prSet presAssocID="{12B7E969-88A2-4F2F-A14A-303FC8619A25}" presName="sibTrans" presStyleLbl="sibTrans2D1" presStyleIdx="0" presStyleCnt="0"/>
      <dgm:spPr/>
    </dgm:pt>
    <dgm:pt modelId="{319072D8-B07F-49D1-839F-21E43FF88520}" type="pres">
      <dgm:prSet presAssocID="{C834FF9F-9D4C-4CE4-9583-03AC226CA55C}" presName="compNode" presStyleCnt="0"/>
      <dgm:spPr/>
    </dgm:pt>
    <dgm:pt modelId="{FA83E452-CBA3-4C35-B151-7496DD2E8D45}" type="pres">
      <dgm:prSet presAssocID="{C834FF9F-9D4C-4CE4-9583-03AC226CA55C}" presName="iconBgRect" presStyleLbl="bgShp" presStyleIdx="2" presStyleCnt="4"/>
      <dgm:spPr/>
    </dgm:pt>
    <dgm:pt modelId="{69F4DDD5-7603-48A5-A246-5C6C3409281A}" type="pres">
      <dgm:prSet presAssocID="{C834FF9F-9D4C-4CE4-9583-03AC226CA55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2D750B0B-1643-4054-8DFE-87C9E8C14DD8}" type="pres">
      <dgm:prSet presAssocID="{C834FF9F-9D4C-4CE4-9583-03AC226CA55C}" presName="spaceRect" presStyleCnt="0"/>
      <dgm:spPr/>
    </dgm:pt>
    <dgm:pt modelId="{05A945DD-8789-4C8D-8DD7-BBB599675441}" type="pres">
      <dgm:prSet presAssocID="{C834FF9F-9D4C-4CE4-9583-03AC226CA55C}" presName="textRect" presStyleLbl="revTx" presStyleIdx="2" presStyleCnt="4">
        <dgm:presLayoutVars>
          <dgm:chMax val="1"/>
          <dgm:chPref val="1"/>
        </dgm:presLayoutVars>
      </dgm:prSet>
      <dgm:spPr/>
    </dgm:pt>
    <dgm:pt modelId="{C27A1E60-4585-4C3F-B9CA-DCF5A457BE50}" type="pres">
      <dgm:prSet presAssocID="{20701F93-069B-4FE8-93DB-928BE35C3DEC}" presName="sibTrans" presStyleLbl="sibTrans2D1" presStyleIdx="0" presStyleCnt="0"/>
      <dgm:spPr/>
    </dgm:pt>
    <dgm:pt modelId="{8DD633F4-C215-4478-837D-6252F1C4557A}" type="pres">
      <dgm:prSet presAssocID="{DCA05DE1-17BE-4CA0-A579-4593F1209461}" presName="compNode" presStyleCnt="0"/>
      <dgm:spPr/>
    </dgm:pt>
    <dgm:pt modelId="{A9FFB751-849B-408E-8147-497B5727350C}" type="pres">
      <dgm:prSet presAssocID="{DCA05DE1-17BE-4CA0-A579-4593F1209461}" presName="iconBgRect" presStyleLbl="bgShp" presStyleIdx="3" presStyleCnt="4"/>
      <dgm:spPr/>
    </dgm:pt>
    <dgm:pt modelId="{E888595A-CD49-4840-9BD6-B66D63A73BD8}" type="pres">
      <dgm:prSet presAssocID="{DCA05DE1-17BE-4CA0-A579-4593F120946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79EB094F-D5B7-42A2-B85D-85FC6623664A}" type="pres">
      <dgm:prSet presAssocID="{DCA05DE1-17BE-4CA0-A579-4593F1209461}" presName="spaceRect" presStyleCnt="0"/>
      <dgm:spPr/>
    </dgm:pt>
    <dgm:pt modelId="{273D5DFE-EAF4-4D68-A982-E3155C3632D8}" type="pres">
      <dgm:prSet presAssocID="{DCA05DE1-17BE-4CA0-A579-4593F120946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97B200C-808B-44BA-8E4D-FD55811C3BBA}" type="presOf" srcId="{D0481754-EEF8-492D-9096-1293B486E0BF}" destId="{FA54AAD1-56A2-4E88-ADBE-F056EABE31B8}" srcOrd="0" destOrd="0" presId="urn:microsoft.com/office/officeart/2018/2/layout/IconCircleList"/>
    <dgm:cxn modelId="{CDAA6B16-7940-4163-A38B-A5308831A09D}" srcId="{1B0F0574-C9CA-477A-A09D-41367C7325C2}" destId="{C834FF9F-9D4C-4CE4-9583-03AC226CA55C}" srcOrd="2" destOrd="0" parTransId="{2317C29D-7509-4513-AEA5-0869CC6C5629}" sibTransId="{20701F93-069B-4FE8-93DB-928BE35C3DEC}"/>
    <dgm:cxn modelId="{AB08CC1D-F991-4CF8-B51B-0CE348A52A24}" type="presOf" srcId="{DCA05DE1-17BE-4CA0-A579-4593F1209461}" destId="{273D5DFE-EAF4-4D68-A982-E3155C3632D8}" srcOrd="0" destOrd="0" presId="urn:microsoft.com/office/officeart/2018/2/layout/IconCircleList"/>
    <dgm:cxn modelId="{453F2A22-699B-4B83-A3CB-B0B47E6759E4}" srcId="{1B0F0574-C9CA-477A-A09D-41367C7325C2}" destId="{D0481754-EEF8-492D-9096-1293B486E0BF}" srcOrd="1" destOrd="0" parTransId="{7748F768-6F59-4D4B-B643-1FE4344BC3AB}" sibTransId="{12B7E969-88A2-4F2F-A14A-303FC8619A25}"/>
    <dgm:cxn modelId="{DCFB2329-FBA1-4CCC-B57B-2C14D97F0DE9}" type="presOf" srcId="{C834FF9F-9D4C-4CE4-9583-03AC226CA55C}" destId="{05A945DD-8789-4C8D-8DD7-BBB599675441}" srcOrd="0" destOrd="0" presId="urn:microsoft.com/office/officeart/2018/2/layout/IconCircleList"/>
    <dgm:cxn modelId="{71ED153E-EA24-444D-A965-43AE1C354185}" srcId="{1B0F0574-C9CA-477A-A09D-41367C7325C2}" destId="{DCA05DE1-17BE-4CA0-A579-4593F1209461}" srcOrd="3" destOrd="0" parTransId="{A66AC4E7-1014-4B05-BB50-2CC2AE87C9FF}" sibTransId="{91E3B22B-E537-4259-91FB-D0FC59A65B20}"/>
    <dgm:cxn modelId="{303AE856-22C9-4ADB-B15B-FDFD2178FE52}" type="presOf" srcId="{12B7E969-88A2-4F2F-A14A-303FC8619A25}" destId="{3040F24A-05CB-4BFC-B530-CE251CFB6065}" srcOrd="0" destOrd="0" presId="urn:microsoft.com/office/officeart/2018/2/layout/IconCircleList"/>
    <dgm:cxn modelId="{566B2458-0B9D-435F-BBE2-C8FA23D7F8DF}" type="presOf" srcId="{1B0F0574-C9CA-477A-A09D-41367C7325C2}" destId="{5C2FF1FD-F040-4A58-BBFA-FD760D81D762}" srcOrd="0" destOrd="0" presId="urn:microsoft.com/office/officeart/2018/2/layout/IconCircleList"/>
    <dgm:cxn modelId="{1FF7FE80-65EB-4748-8941-5EBB43036785}" type="presOf" srcId="{20701F93-069B-4FE8-93DB-928BE35C3DEC}" destId="{C27A1E60-4585-4C3F-B9CA-DCF5A457BE50}" srcOrd="0" destOrd="0" presId="urn:microsoft.com/office/officeart/2018/2/layout/IconCircleList"/>
    <dgm:cxn modelId="{5B90B689-EA28-46BD-8285-57126FF31830}" type="presOf" srcId="{5596743F-0179-46AF-B011-4BDB6BEA1F84}" destId="{87FE2EB8-C0CE-46B9-9047-6C0A4E4F1516}" srcOrd="0" destOrd="0" presId="urn:microsoft.com/office/officeart/2018/2/layout/IconCircleList"/>
    <dgm:cxn modelId="{5BDC2A9C-D4AE-4B73-B9C5-3871B51EB61F}" srcId="{1B0F0574-C9CA-477A-A09D-41367C7325C2}" destId="{41051E51-B4FB-43EA-89A2-1E35E1509625}" srcOrd="0" destOrd="0" parTransId="{78FB5D47-26C4-44D0-A7D7-3F077281B9BB}" sibTransId="{5596743F-0179-46AF-B011-4BDB6BEA1F84}"/>
    <dgm:cxn modelId="{7FAC86B6-7015-4F97-A1B5-092148122826}" type="presOf" srcId="{41051E51-B4FB-43EA-89A2-1E35E1509625}" destId="{6AC3C63B-2B1B-4A26-8F3E-14368C4380D4}" srcOrd="0" destOrd="0" presId="urn:microsoft.com/office/officeart/2018/2/layout/IconCircleList"/>
    <dgm:cxn modelId="{4757B578-DF9C-4F99-A95D-FE410686F98A}" type="presParOf" srcId="{5C2FF1FD-F040-4A58-BBFA-FD760D81D762}" destId="{BAB12DD2-03C0-4C3B-8B21-F648BB1B0BCC}" srcOrd="0" destOrd="0" presId="urn:microsoft.com/office/officeart/2018/2/layout/IconCircleList"/>
    <dgm:cxn modelId="{C340589A-CB68-44C1-B952-1726B07CFE7D}" type="presParOf" srcId="{BAB12DD2-03C0-4C3B-8B21-F648BB1B0BCC}" destId="{F70DD117-6E88-48FF-A235-B8FA001959B1}" srcOrd="0" destOrd="0" presId="urn:microsoft.com/office/officeart/2018/2/layout/IconCircleList"/>
    <dgm:cxn modelId="{A4244FFE-41BE-429E-A81F-BA9243C8E02C}" type="presParOf" srcId="{F70DD117-6E88-48FF-A235-B8FA001959B1}" destId="{5EF37ED8-B048-4C1F-8B7C-DAB8D10DE607}" srcOrd="0" destOrd="0" presId="urn:microsoft.com/office/officeart/2018/2/layout/IconCircleList"/>
    <dgm:cxn modelId="{D45AF4A6-A549-4970-937E-B36FF5A274E7}" type="presParOf" srcId="{F70DD117-6E88-48FF-A235-B8FA001959B1}" destId="{D95CD192-3405-4FC3-A9A1-0F609C9F777B}" srcOrd="1" destOrd="0" presId="urn:microsoft.com/office/officeart/2018/2/layout/IconCircleList"/>
    <dgm:cxn modelId="{BB69236D-5C61-40C6-BDA5-31041106F863}" type="presParOf" srcId="{F70DD117-6E88-48FF-A235-B8FA001959B1}" destId="{57870450-542F-4B48-89FA-7771B97D9C38}" srcOrd="2" destOrd="0" presId="urn:microsoft.com/office/officeart/2018/2/layout/IconCircleList"/>
    <dgm:cxn modelId="{35BA545E-3439-47FF-9FEB-50F902B4EB72}" type="presParOf" srcId="{F70DD117-6E88-48FF-A235-B8FA001959B1}" destId="{6AC3C63B-2B1B-4A26-8F3E-14368C4380D4}" srcOrd="3" destOrd="0" presId="urn:microsoft.com/office/officeart/2018/2/layout/IconCircleList"/>
    <dgm:cxn modelId="{D65A2781-194A-468D-9C00-5FBE153B984A}" type="presParOf" srcId="{BAB12DD2-03C0-4C3B-8B21-F648BB1B0BCC}" destId="{87FE2EB8-C0CE-46B9-9047-6C0A4E4F1516}" srcOrd="1" destOrd="0" presId="urn:microsoft.com/office/officeart/2018/2/layout/IconCircleList"/>
    <dgm:cxn modelId="{B8283A03-AF77-4675-BF9F-19C2868BA69F}" type="presParOf" srcId="{BAB12DD2-03C0-4C3B-8B21-F648BB1B0BCC}" destId="{1490F5ED-0ADD-4122-A6BB-44C251D9A809}" srcOrd="2" destOrd="0" presId="urn:microsoft.com/office/officeart/2018/2/layout/IconCircleList"/>
    <dgm:cxn modelId="{4B455E99-1993-4205-8E7B-20E23565B279}" type="presParOf" srcId="{1490F5ED-0ADD-4122-A6BB-44C251D9A809}" destId="{90CDA4EA-7041-4D5F-83D8-8B881CCD2760}" srcOrd="0" destOrd="0" presId="urn:microsoft.com/office/officeart/2018/2/layout/IconCircleList"/>
    <dgm:cxn modelId="{5C0DD223-4CA7-4CF7-8C6F-019F68116768}" type="presParOf" srcId="{1490F5ED-0ADD-4122-A6BB-44C251D9A809}" destId="{4D5F4AFA-B1CB-45AD-8F90-F150232BCF2B}" srcOrd="1" destOrd="0" presId="urn:microsoft.com/office/officeart/2018/2/layout/IconCircleList"/>
    <dgm:cxn modelId="{726FA44F-4AA4-4EFE-AF29-A2B7B7CCCB4B}" type="presParOf" srcId="{1490F5ED-0ADD-4122-A6BB-44C251D9A809}" destId="{DEAF6A8E-99AB-4E5E-8BE6-EF566C1AD819}" srcOrd="2" destOrd="0" presId="urn:microsoft.com/office/officeart/2018/2/layout/IconCircleList"/>
    <dgm:cxn modelId="{11F42863-CC9B-4EE0-8068-53C2C515A631}" type="presParOf" srcId="{1490F5ED-0ADD-4122-A6BB-44C251D9A809}" destId="{FA54AAD1-56A2-4E88-ADBE-F056EABE31B8}" srcOrd="3" destOrd="0" presId="urn:microsoft.com/office/officeart/2018/2/layout/IconCircleList"/>
    <dgm:cxn modelId="{343493E4-1A2F-4AFA-BE51-224BC0D9AF5E}" type="presParOf" srcId="{BAB12DD2-03C0-4C3B-8B21-F648BB1B0BCC}" destId="{3040F24A-05CB-4BFC-B530-CE251CFB6065}" srcOrd="3" destOrd="0" presId="urn:microsoft.com/office/officeart/2018/2/layout/IconCircleList"/>
    <dgm:cxn modelId="{90CD254F-9F76-46E0-850D-5D5B9C069DB9}" type="presParOf" srcId="{BAB12DD2-03C0-4C3B-8B21-F648BB1B0BCC}" destId="{319072D8-B07F-49D1-839F-21E43FF88520}" srcOrd="4" destOrd="0" presId="urn:microsoft.com/office/officeart/2018/2/layout/IconCircleList"/>
    <dgm:cxn modelId="{01A31339-747E-4B98-AF0A-7E24D8445849}" type="presParOf" srcId="{319072D8-B07F-49D1-839F-21E43FF88520}" destId="{FA83E452-CBA3-4C35-B151-7496DD2E8D45}" srcOrd="0" destOrd="0" presId="urn:microsoft.com/office/officeart/2018/2/layout/IconCircleList"/>
    <dgm:cxn modelId="{BA71B92F-589F-4A7A-852E-575464E42234}" type="presParOf" srcId="{319072D8-B07F-49D1-839F-21E43FF88520}" destId="{69F4DDD5-7603-48A5-A246-5C6C3409281A}" srcOrd="1" destOrd="0" presId="urn:microsoft.com/office/officeart/2018/2/layout/IconCircleList"/>
    <dgm:cxn modelId="{F1F8E0CE-BA28-4EA9-BE5A-122FFBDA3D2E}" type="presParOf" srcId="{319072D8-B07F-49D1-839F-21E43FF88520}" destId="{2D750B0B-1643-4054-8DFE-87C9E8C14DD8}" srcOrd="2" destOrd="0" presId="urn:microsoft.com/office/officeart/2018/2/layout/IconCircleList"/>
    <dgm:cxn modelId="{F1A546DD-E219-404E-8470-A095B5B0CE1A}" type="presParOf" srcId="{319072D8-B07F-49D1-839F-21E43FF88520}" destId="{05A945DD-8789-4C8D-8DD7-BBB599675441}" srcOrd="3" destOrd="0" presId="urn:microsoft.com/office/officeart/2018/2/layout/IconCircleList"/>
    <dgm:cxn modelId="{5F6DFB2E-C450-4E48-B12B-0FFC6E2DD58A}" type="presParOf" srcId="{BAB12DD2-03C0-4C3B-8B21-F648BB1B0BCC}" destId="{C27A1E60-4585-4C3F-B9CA-DCF5A457BE50}" srcOrd="5" destOrd="0" presId="urn:microsoft.com/office/officeart/2018/2/layout/IconCircleList"/>
    <dgm:cxn modelId="{632955D5-0BC5-4CED-8032-58CF411250B5}" type="presParOf" srcId="{BAB12DD2-03C0-4C3B-8B21-F648BB1B0BCC}" destId="{8DD633F4-C215-4478-837D-6252F1C4557A}" srcOrd="6" destOrd="0" presId="urn:microsoft.com/office/officeart/2018/2/layout/IconCircleList"/>
    <dgm:cxn modelId="{2C5420D2-B0BF-4134-9CE5-595A95446E1C}" type="presParOf" srcId="{8DD633F4-C215-4478-837D-6252F1C4557A}" destId="{A9FFB751-849B-408E-8147-497B5727350C}" srcOrd="0" destOrd="0" presId="urn:microsoft.com/office/officeart/2018/2/layout/IconCircleList"/>
    <dgm:cxn modelId="{0FD406FD-4515-4493-93B4-03A5F01C3E24}" type="presParOf" srcId="{8DD633F4-C215-4478-837D-6252F1C4557A}" destId="{E888595A-CD49-4840-9BD6-B66D63A73BD8}" srcOrd="1" destOrd="0" presId="urn:microsoft.com/office/officeart/2018/2/layout/IconCircleList"/>
    <dgm:cxn modelId="{8BCEF398-01FA-48BF-9705-8ADDA518D938}" type="presParOf" srcId="{8DD633F4-C215-4478-837D-6252F1C4557A}" destId="{79EB094F-D5B7-42A2-B85D-85FC6623664A}" srcOrd="2" destOrd="0" presId="urn:microsoft.com/office/officeart/2018/2/layout/IconCircleList"/>
    <dgm:cxn modelId="{023ECD85-13DE-4A77-9737-54978B2AF37B}" type="presParOf" srcId="{8DD633F4-C215-4478-837D-6252F1C4557A}" destId="{273D5DFE-EAF4-4D68-A982-E3155C3632D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BF3E42-718E-4733-AD37-1C19E060DD0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15B2654-AAA5-40EE-A622-77C5919A0118}">
      <dgm:prSet/>
      <dgm:spPr/>
      <dgm:t>
        <a:bodyPr/>
        <a:lstStyle/>
        <a:p>
          <a:r>
            <a:rPr lang="en-US" b="1"/>
            <a:t>Phase 1: Time-Series Preprocessing</a:t>
          </a:r>
          <a:endParaRPr lang="en-US"/>
        </a:p>
      </dgm:t>
    </dgm:pt>
    <dgm:pt modelId="{6D439D40-ACBC-46DB-9039-C72AA46C86A3}" type="parTrans" cxnId="{7663C150-4779-4582-96D2-3E8705FFF04A}">
      <dgm:prSet/>
      <dgm:spPr/>
      <dgm:t>
        <a:bodyPr/>
        <a:lstStyle/>
        <a:p>
          <a:endParaRPr lang="en-US"/>
        </a:p>
      </dgm:t>
    </dgm:pt>
    <dgm:pt modelId="{A2EC8538-42C0-400A-9204-A947EC35120B}" type="sibTrans" cxnId="{7663C150-4779-4582-96D2-3E8705FFF04A}">
      <dgm:prSet/>
      <dgm:spPr/>
      <dgm:t>
        <a:bodyPr/>
        <a:lstStyle/>
        <a:p>
          <a:endParaRPr lang="en-US"/>
        </a:p>
      </dgm:t>
    </dgm:pt>
    <dgm:pt modelId="{7B9FB95C-4FDA-4DAC-8C69-220526709FAC}">
      <dgm:prSet/>
      <dgm:spPr/>
      <dgm:t>
        <a:bodyPr/>
        <a:lstStyle/>
        <a:p>
          <a:r>
            <a:rPr lang="en-US"/>
            <a:t>Processes millions of hours of high-frequency raw sensor data.</a:t>
          </a:r>
        </a:p>
      </dgm:t>
    </dgm:pt>
    <dgm:pt modelId="{2E10E532-6592-43E9-B2E3-1E4F46C67B79}" type="parTrans" cxnId="{7EEA75C9-A30C-4271-9CDE-A62F40B0BC12}">
      <dgm:prSet/>
      <dgm:spPr/>
      <dgm:t>
        <a:bodyPr/>
        <a:lstStyle/>
        <a:p>
          <a:endParaRPr lang="en-US"/>
        </a:p>
      </dgm:t>
    </dgm:pt>
    <dgm:pt modelId="{8FCC6AB7-D5D9-4126-BD51-20DF2FDC0339}" type="sibTrans" cxnId="{7EEA75C9-A30C-4271-9CDE-A62F40B0BC12}">
      <dgm:prSet/>
      <dgm:spPr/>
      <dgm:t>
        <a:bodyPr/>
        <a:lstStyle/>
        <a:p>
          <a:endParaRPr lang="en-US"/>
        </a:p>
      </dgm:t>
    </dgm:pt>
    <dgm:pt modelId="{B6885CDE-6FB6-4DBC-A067-FB895D641C96}">
      <dgm:prSet/>
      <dgm:spPr/>
      <dgm:t>
        <a:bodyPr/>
        <a:lstStyle/>
        <a:p>
          <a:r>
            <a:rPr lang="en-US"/>
            <a:t>Cleans the data through artifact removal and aligns it daily for consistency.</a:t>
          </a:r>
        </a:p>
      </dgm:t>
    </dgm:pt>
    <dgm:pt modelId="{C6DB8607-1B63-4137-9462-FCFE46184802}" type="parTrans" cxnId="{51292406-70E4-4D63-8DBF-B93489BAC537}">
      <dgm:prSet/>
      <dgm:spPr/>
      <dgm:t>
        <a:bodyPr/>
        <a:lstStyle/>
        <a:p>
          <a:endParaRPr lang="en-US"/>
        </a:p>
      </dgm:t>
    </dgm:pt>
    <dgm:pt modelId="{151D1187-46FA-459A-A3F6-8B11730151A8}" type="sibTrans" cxnId="{51292406-70E4-4D63-8DBF-B93489BAC537}">
      <dgm:prSet/>
      <dgm:spPr/>
      <dgm:t>
        <a:bodyPr/>
        <a:lstStyle/>
        <a:p>
          <a:endParaRPr lang="en-US"/>
        </a:p>
      </dgm:t>
    </dgm:pt>
    <dgm:pt modelId="{3E745C3C-9831-467C-B811-E64FF3F348D2}" type="pres">
      <dgm:prSet presAssocID="{F3BF3E42-718E-4733-AD37-1C19E060DD02}" presName="root" presStyleCnt="0">
        <dgm:presLayoutVars>
          <dgm:dir/>
          <dgm:resizeHandles val="exact"/>
        </dgm:presLayoutVars>
      </dgm:prSet>
      <dgm:spPr/>
    </dgm:pt>
    <dgm:pt modelId="{362D89B9-F5DA-4643-A5EF-F3A1A2BA8ED2}" type="pres">
      <dgm:prSet presAssocID="{F3BF3E42-718E-4733-AD37-1C19E060DD02}" presName="container" presStyleCnt="0">
        <dgm:presLayoutVars>
          <dgm:dir/>
          <dgm:resizeHandles val="exact"/>
        </dgm:presLayoutVars>
      </dgm:prSet>
      <dgm:spPr/>
    </dgm:pt>
    <dgm:pt modelId="{40CB9AEF-FB77-4CD1-822C-60ACDD5735B1}" type="pres">
      <dgm:prSet presAssocID="{415B2654-AAA5-40EE-A622-77C5919A0118}" presName="compNode" presStyleCnt="0"/>
      <dgm:spPr/>
    </dgm:pt>
    <dgm:pt modelId="{5F1F6F58-19CE-4592-BE36-F88E457FCA0B}" type="pres">
      <dgm:prSet presAssocID="{415B2654-AAA5-40EE-A622-77C5919A0118}" presName="iconBgRect" presStyleLbl="bgShp" presStyleIdx="0" presStyleCnt="3"/>
      <dgm:spPr/>
    </dgm:pt>
    <dgm:pt modelId="{484C9D4B-24F2-4E54-8369-B3F184F7631D}" type="pres">
      <dgm:prSet presAssocID="{415B2654-AAA5-40EE-A622-77C5919A011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479C19D-ABF0-4B56-AD86-FB029D33F21C}" type="pres">
      <dgm:prSet presAssocID="{415B2654-AAA5-40EE-A622-77C5919A0118}" presName="spaceRect" presStyleCnt="0"/>
      <dgm:spPr/>
    </dgm:pt>
    <dgm:pt modelId="{BED07CA6-A4C2-41C9-93F6-2BF9BF6D1212}" type="pres">
      <dgm:prSet presAssocID="{415B2654-AAA5-40EE-A622-77C5919A0118}" presName="textRect" presStyleLbl="revTx" presStyleIdx="0" presStyleCnt="3">
        <dgm:presLayoutVars>
          <dgm:chMax val="1"/>
          <dgm:chPref val="1"/>
        </dgm:presLayoutVars>
      </dgm:prSet>
      <dgm:spPr/>
    </dgm:pt>
    <dgm:pt modelId="{6378F3E8-6BB8-461A-B8C9-21226F30B078}" type="pres">
      <dgm:prSet presAssocID="{A2EC8538-42C0-400A-9204-A947EC35120B}" presName="sibTrans" presStyleLbl="sibTrans2D1" presStyleIdx="0" presStyleCnt="0"/>
      <dgm:spPr/>
    </dgm:pt>
    <dgm:pt modelId="{AA6BCC89-0508-4588-B523-CF3A00664EF4}" type="pres">
      <dgm:prSet presAssocID="{7B9FB95C-4FDA-4DAC-8C69-220526709FAC}" presName="compNode" presStyleCnt="0"/>
      <dgm:spPr/>
    </dgm:pt>
    <dgm:pt modelId="{0B303BF1-80FE-463D-B497-89D7066403BB}" type="pres">
      <dgm:prSet presAssocID="{7B9FB95C-4FDA-4DAC-8C69-220526709FAC}" presName="iconBgRect" presStyleLbl="bgShp" presStyleIdx="1" presStyleCnt="3"/>
      <dgm:spPr/>
    </dgm:pt>
    <dgm:pt modelId="{1B00C138-E05A-4164-A7B5-DA73E819DCE4}" type="pres">
      <dgm:prSet presAssocID="{7B9FB95C-4FDA-4DAC-8C69-220526709FA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154CEDA-419D-476D-AE93-59E1E0BD2ECA}" type="pres">
      <dgm:prSet presAssocID="{7B9FB95C-4FDA-4DAC-8C69-220526709FAC}" presName="spaceRect" presStyleCnt="0"/>
      <dgm:spPr/>
    </dgm:pt>
    <dgm:pt modelId="{AF2FD131-3AB1-49CA-911E-4DB6D8E44FC7}" type="pres">
      <dgm:prSet presAssocID="{7B9FB95C-4FDA-4DAC-8C69-220526709FAC}" presName="textRect" presStyleLbl="revTx" presStyleIdx="1" presStyleCnt="3">
        <dgm:presLayoutVars>
          <dgm:chMax val="1"/>
          <dgm:chPref val="1"/>
        </dgm:presLayoutVars>
      </dgm:prSet>
      <dgm:spPr/>
    </dgm:pt>
    <dgm:pt modelId="{980F5C6B-0F3A-482F-90E8-41C41CD733BE}" type="pres">
      <dgm:prSet presAssocID="{8FCC6AB7-D5D9-4126-BD51-20DF2FDC0339}" presName="sibTrans" presStyleLbl="sibTrans2D1" presStyleIdx="0" presStyleCnt="0"/>
      <dgm:spPr/>
    </dgm:pt>
    <dgm:pt modelId="{2BE7E2FE-9F15-48FB-BA2B-D9ABF3AF4005}" type="pres">
      <dgm:prSet presAssocID="{B6885CDE-6FB6-4DBC-A067-FB895D641C96}" presName="compNode" presStyleCnt="0"/>
      <dgm:spPr/>
    </dgm:pt>
    <dgm:pt modelId="{75B81DE4-3F79-4255-98B3-66EF1182AB45}" type="pres">
      <dgm:prSet presAssocID="{B6885CDE-6FB6-4DBC-A067-FB895D641C96}" presName="iconBgRect" presStyleLbl="bgShp" presStyleIdx="2" presStyleCnt="3"/>
      <dgm:spPr/>
    </dgm:pt>
    <dgm:pt modelId="{059A28F8-4218-4F36-BA31-EAD1B6A2AA74}" type="pres">
      <dgm:prSet presAssocID="{B6885CDE-6FB6-4DBC-A067-FB895D641C9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0849DC2-9ABE-44A8-A89B-62C6B95CC72D}" type="pres">
      <dgm:prSet presAssocID="{B6885CDE-6FB6-4DBC-A067-FB895D641C96}" presName="spaceRect" presStyleCnt="0"/>
      <dgm:spPr/>
    </dgm:pt>
    <dgm:pt modelId="{ADE34EE6-840C-4158-B9E3-43D61D177C40}" type="pres">
      <dgm:prSet presAssocID="{B6885CDE-6FB6-4DBC-A067-FB895D641C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1292406-70E4-4D63-8DBF-B93489BAC537}" srcId="{F3BF3E42-718E-4733-AD37-1C19E060DD02}" destId="{B6885CDE-6FB6-4DBC-A067-FB895D641C96}" srcOrd="2" destOrd="0" parTransId="{C6DB8607-1B63-4137-9462-FCFE46184802}" sibTransId="{151D1187-46FA-459A-A3F6-8B11730151A8}"/>
    <dgm:cxn modelId="{70DB7824-7048-4393-9EEA-E01426C2952D}" type="presOf" srcId="{8FCC6AB7-D5D9-4126-BD51-20DF2FDC0339}" destId="{980F5C6B-0F3A-482F-90E8-41C41CD733BE}" srcOrd="0" destOrd="0" presId="urn:microsoft.com/office/officeart/2018/2/layout/IconCircleList"/>
    <dgm:cxn modelId="{23FF336C-0422-4863-9A98-56158BBCD71A}" type="presOf" srcId="{F3BF3E42-718E-4733-AD37-1C19E060DD02}" destId="{3E745C3C-9831-467C-B811-E64FF3F348D2}" srcOrd="0" destOrd="0" presId="urn:microsoft.com/office/officeart/2018/2/layout/IconCircleList"/>
    <dgm:cxn modelId="{82C8D14E-5EA3-4759-B684-D94916237565}" type="presOf" srcId="{7B9FB95C-4FDA-4DAC-8C69-220526709FAC}" destId="{AF2FD131-3AB1-49CA-911E-4DB6D8E44FC7}" srcOrd="0" destOrd="0" presId="urn:microsoft.com/office/officeart/2018/2/layout/IconCircleList"/>
    <dgm:cxn modelId="{7663C150-4779-4582-96D2-3E8705FFF04A}" srcId="{F3BF3E42-718E-4733-AD37-1C19E060DD02}" destId="{415B2654-AAA5-40EE-A622-77C5919A0118}" srcOrd="0" destOrd="0" parTransId="{6D439D40-ACBC-46DB-9039-C72AA46C86A3}" sibTransId="{A2EC8538-42C0-400A-9204-A947EC35120B}"/>
    <dgm:cxn modelId="{D51C4089-83D3-48FD-97C5-FBBEEF505195}" type="presOf" srcId="{415B2654-AAA5-40EE-A622-77C5919A0118}" destId="{BED07CA6-A4C2-41C9-93F6-2BF9BF6D1212}" srcOrd="0" destOrd="0" presId="urn:microsoft.com/office/officeart/2018/2/layout/IconCircleList"/>
    <dgm:cxn modelId="{649BA0AC-4152-4E16-8A54-F3622A3D577D}" type="presOf" srcId="{B6885CDE-6FB6-4DBC-A067-FB895D641C96}" destId="{ADE34EE6-840C-4158-B9E3-43D61D177C40}" srcOrd="0" destOrd="0" presId="urn:microsoft.com/office/officeart/2018/2/layout/IconCircleList"/>
    <dgm:cxn modelId="{05E602AF-7269-4AC3-BF7D-D9091E8F5D3B}" type="presOf" srcId="{A2EC8538-42C0-400A-9204-A947EC35120B}" destId="{6378F3E8-6BB8-461A-B8C9-21226F30B078}" srcOrd="0" destOrd="0" presId="urn:microsoft.com/office/officeart/2018/2/layout/IconCircleList"/>
    <dgm:cxn modelId="{7EEA75C9-A30C-4271-9CDE-A62F40B0BC12}" srcId="{F3BF3E42-718E-4733-AD37-1C19E060DD02}" destId="{7B9FB95C-4FDA-4DAC-8C69-220526709FAC}" srcOrd="1" destOrd="0" parTransId="{2E10E532-6592-43E9-B2E3-1E4F46C67B79}" sibTransId="{8FCC6AB7-D5D9-4126-BD51-20DF2FDC0339}"/>
    <dgm:cxn modelId="{E5E6F30B-F3BC-473E-980C-AC7A24F23B14}" type="presParOf" srcId="{3E745C3C-9831-467C-B811-E64FF3F348D2}" destId="{362D89B9-F5DA-4643-A5EF-F3A1A2BA8ED2}" srcOrd="0" destOrd="0" presId="urn:microsoft.com/office/officeart/2018/2/layout/IconCircleList"/>
    <dgm:cxn modelId="{52DBF54D-3BB4-43C9-A875-9A50FB665826}" type="presParOf" srcId="{362D89B9-F5DA-4643-A5EF-F3A1A2BA8ED2}" destId="{40CB9AEF-FB77-4CD1-822C-60ACDD5735B1}" srcOrd="0" destOrd="0" presId="urn:microsoft.com/office/officeart/2018/2/layout/IconCircleList"/>
    <dgm:cxn modelId="{7BBD580C-77B7-4C1E-89DD-3C71480572CB}" type="presParOf" srcId="{40CB9AEF-FB77-4CD1-822C-60ACDD5735B1}" destId="{5F1F6F58-19CE-4592-BE36-F88E457FCA0B}" srcOrd="0" destOrd="0" presId="urn:microsoft.com/office/officeart/2018/2/layout/IconCircleList"/>
    <dgm:cxn modelId="{D484D1B5-B02B-4483-9BB4-D4E146ADE78E}" type="presParOf" srcId="{40CB9AEF-FB77-4CD1-822C-60ACDD5735B1}" destId="{484C9D4B-24F2-4E54-8369-B3F184F7631D}" srcOrd="1" destOrd="0" presId="urn:microsoft.com/office/officeart/2018/2/layout/IconCircleList"/>
    <dgm:cxn modelId="{BC88A53D-2891-4274-899E-A482F71104CB}" type="presParOf" srcId="{40CB9AEF-FB77-4CD1-822C-60ACDD5735B1}" destId="{5479C19D-ABF0-4B56-AD86-FB029D33F21C}" srcOrd="2" destOrd="0" presId="urn:microsoft.com/office/officeart/2018/2/layout/IconCircleList"/>
    <dgm:cxn modelId="{D4DA5DF8-5B85-4C83-B25C-20E3DA5712B9}" type="presParOf" srcId="{40CB9AEF-FB77-4CD1-822C-60ACDD5735B1}" destId="{BED07CA6-A4C2-41C9-93F6-2BF9BF6D1212}" srcOrd="3" destOrd="0" presId="urn:microsoft.com/office/officeart/2018/2/layout/IconCircleList"/>
    <dgm:cxn modelId="{0AAE6518-3750-47D5-AF40-EF497A3D74DA}" type="presParOf" srcId="{362D89B9-F5DA-4643-A5EF-F3A1A2BA8ED2}" destId="{6378F3E8-6BB8-461A-B8C9-21226F30B078}" srcOrd="1" destOrd="0" presId="urn:microsoft.com/office/officeart/2018/2/layout/IconCircleList"/>
    <dgm:cxn modelId="{32DB46B7-8500-4427-BCCA-A24B3A668A84}" type="presParOf" srcId="{362D89B9-F5DA-4643-A5EF-F3A1A2BA8ED2}" destId="{AA6BCC89-0508-4588-B523-CF3A00664EF4}" srcOrd="2" destOrd="0" presId="urn:microsoft.com/office/officeart/2018/2/layout/IconCircleList"/>
    <dgm:cxn modelId="{4923256A-06EF-4675-AFEB-C7E8192B46F4}" type="presParOf" srcId="{AA6BCC89-0508-4588-B523-CF3A00664EF4}" destId="{0B303BF1-80FE-463D-B497-89D7066403BB}" srcOrd="0" destOrd="0" presId="urn:microsoft.com/office/officeart/2018/2/layout/IconCircleList"/>
    <dgm:cxn modelId="{1F917F23-36BC-401B-A1AB-6267A436E456}" type="presParOf" srcId="{AA6BCC89-0508-4588-B523-CF3A00664EF4}" destId="{1B00C138-E05A-4164-A7B5-DA73E819DCE4}" srcOrd="1" destOrd="0" presId="urn:microsoft.com/office/officeart/2018/2/layout/IconCircleList"/>
    <dgm:cxn modelId="{5BC4FA6B-647F-4111-86CB-EBB2B8380703}" type="presParOf" srcId="{AA6BCC89-0508-4588-B523-CF3A00664EF4}" destId="{B154CEDA-419D-476D-AE93-59E1E0BD2ECA}" srcOrd="2" destOrd="0" presId="urn:microsoft.com/office/officeart/2018/2/layout/IconCircleList"/>
    <dgm:cxn modelId="{FC7D9CE8-C287-43D6-A844-38E0610A45AE}" type="presParOf" srcId="{AA6BCC89-0508-4588-B523-CF3A00664EF4}" destId="{AF2FD131-3AB1-49CA-911E-4DB6D8E44FC7}" srcOrd="3" destOrd="0" presId="urn:microsoft.com/office/officeart/2018/2/layout/IconCircleList"/>
    <dgm:cxn modelId="{B4892A65-F309-4047-B08F-C5D138E72359}" type="presParOf" srcId="{362D89B9-F5DA-4643-A5EF-F3A1A2BA8ED2}" destId="{980F5C6B-0F3A-482F-90E8-41C41CD733BE}" srcOrd="3" destOrd="0" presId="urn:microsoft.com/office/officeart/2018/2/layout/IconCircleList"/>
    <dgm:cxn modelId="{130C1780-DA1D-4820-A852-36C13401E06A}" type="presParOf" srcId="{362D89B9-F5DA-4643-A5EF-F3A1A2BA8ED2}" destId="{2BE7E2FE-9F15-48FB-BA2B-D9ABF3AF4005}" srcOrd="4" destOrd="0" presId="urn:microsoft.com/office/officeart/2018/2/layout/IconCircleList"/>
    <dgm:cxn modelId="{C5F89819-C024-4D92-9FBB-AEE228016144}" type="presParOf" srcId="{2BE7E2FE-9F15-48FB-BA2B-D9ABF3AF4005}" destId="{75B81DE4-3F79-4255-98B3-66EF1182AB45}" srcOrd="0" destOrd="0" presId="urn:microsoft.com/office/officeart/2018/2/layout/IconCircleList"/>
    <dgm:cxn modelId="{857DC003-9EA0-4D7B-B0E0-48E24F6CB13E}" type="presParOf" srcId="{2BE7E2FE-9F15-48FB-BA2B-D9ABF3AF4005}" destId="{059A28F8-4218-4F36-BA31-EAD1B6A2AA74}" srcOrd="1" destOrd="0" presId="urn:microsoft.com/office/officeart/2018/2/layout/IconCircleList"/>
    <dgm:cxn modelId="{A9DEF21E-20EA-4338-A5D0-398F6F44C4A6}" type="presParOf" srcId="{2BE7E2FE-9F15-48FB-BA2B-D9ABF3AF4005}" destId="{30849DC2-9ABE-44A8-A89B-62C6B95CC72D}" srcOrd="2" destOrd="0" presId="urn:microsoft.com/office/officeart/2018/2/layout/IconCircleList"/>
    <dgm:cxn modelId="{875690AF-64FB-45CD-9670-CD0D6EB7F2B3}" type="presParOf" srcId="{2BE7E2FE-9F15-48FB-BA2B-D9ABF3AF4005}" destId="{ADE34EE6-840C-4158-B9E3-43D61D177C4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0F7BD5-727A-46CE-AF50-F0BDE517A6A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090549E-0462-4AFE-A607-E8E509FA338D}">
      <dgm:prSet/>
      <dgm:spPr/>
      <dgm:t>
        <a:bodyPr/>
        <a:lstStyle/>
        <a:p>
          <a:r>
            <a:rPr lang="en-US" b="1"/>
            <a:t>Phase 2: Wearable Foundation Model (WFM)</a:t>
          </a:r>
          <a:endParaRPr lang="en-US"/>
        </a:p>
      </dgm:t>
    </dgm:pt>
    <dgm:pt modelId="{FA5A87F8-87FF-4FF5-9DF6-73FFACF93EEC}" type="parTrans" cxnId="{3FA98E20-A2F3-4439-B2BE-8A1CE06906A5}">
      <dgm:prSet/>
      <dgm:spPr/>
      <dgm:t>
        <a:bodyPr/>
        <a:lstStyle/>
        <a:p>
          <a:endParaRPr lang="en-US"/>
        </a:p>
      </dgm:t>
    </dgm:pt>
    <dgm:pt modelId="{5C7141F3-1818-4B19-BBB4-46E86FC4EB5B}" type="sibTrans" cxnId="{3FA98E20-A2F3-4439-B2BE-8A1CE06906A5}">
      <dgm:prSet/>
      <dgm:spPr/>
      <dgm:t>
        <a:bodyPr/>
        <a:lstStyle/>
        <a:p>
          <a:endParaRPr lang="en-US"/>
        </a:p>
      </dgm:t>
    </dgm:pt>
    <dgm:pt modelId="{D6A4CD59-C3EE-4B7F-B39F-A6088CD9E613}">
      <dgm:prSet/>
      <dgm:spPr/>
      <dgm:t>
        <a:bodyPr/>
        <a:lstStyle/>
        <a:p>
          <a:r>
            <a:rPr lang="en-US"/>
            <a:t>A deep neural network pre-trained on </a:t>
          </a:r>
          <a:r>
            <a:rPr lang="en-US" b="1"/>
            <a:t>&gt;40 million hours</a:t>
          </a:r>
          <a:r>
            <a:rPr lang="en-US"/>
            <a:t> of diverse sensor data.</a:t>
          </a:r>
        </a:p>
      </dgm:t>
    </dgm:pt>
    <dgm:pt modelId="{553BCD10-A14A-4AD4-92FE-F8416BAE5E95}" type="parTrans" cxnId="{814B12A4-2176-47B3-AC95-7EFEBD4592A5}">
      <dgm:prSet/>
      <dgm:spPr/>
      <dgm:t>
        <a:bodyPr/>
        <a:lstStyle/>
        <a:p>
          <a:endParaRPr lang="en-US"/>
        </a:p>
      </dgm:t>
    </dgm:pt>
    <dgm:pt modelId="{A08AA86C-E509-47B0-8021-264EA3B405BF}" type="sibTrans" cxnId="{814B12A4-2176-47B3-AC95-7EFEBD4592A5}">
      <dgm:prSet/>
      <dgm:spPr/>
      <dgm:t>
        <a:bodyPr/>
        <a:lstStyle/>
        <a:p>
          <a:endParaRPr lang="en-US"/>
        </a:p>
      </dgm:t>
    </dgm:pt>
    <dgm:pt modelId="{0A298529-4839-4179-8DED-F886E925E476}">
      <dgm:prSet/>
      <dgm:spPr/>
      <dgm:t>
        <a:bodyPr/>
        <a:lstStyle/>
        <a:p>
          <a:r>
            <a:rPr lang="en-US"/>
            <a:t>Extracts high-dimensional physiological embeddings (capturing complex body signals).</a:t>
          </a:r>
        </a:p>
      </dgm:t>
    </dgm:pt>
    <dgm:pt modelId="{97227D95-2413-4DD5-B52B-8780E12175A5}" type="parTrans" cxnId="{607D1D6C-F61B-401A-9916-794126052E0B}">
      <dgm:prSet/>
      <dgm:spPr/>
      <dgm:t>
        <a:bodyPr/>
        <a:lstStyle/>
        <a:p>
          <a:endParaRPr lang="en-US"/>
        </a:p>
      </dgm:t>
    </dgm:pt>
    <dgm:pt modelId="{A5880844-260E-4DD6-9C8D-1280EAE3B1E1}" type="sibTrans" cxnId="{607D1D6C-F61B-401A-9916-794126052E0B}">
      <dgm:prSet/>
      <dgm:spPr/>
      <dgm:t>
        <a:bodyPr/>
        <a:lstStyle/>
        <a:p>
          <a:endParaRPr lang="en-US"/>
        </a:p>
      </dgm:t>
    </dgm:pt>
    <dgm:pt modelId="{D135B003-ED4A-4663-98AC-FB8C522D58E7}" type="pres">
      <dgm:prSet presAssocID="{600F7BD5-727A-46CE-AF50-F0BDE517A6A8}" presName="root" presStyleCnt="0">
        <dgm:presLayoutVars>
          <dgm:dir/>
          <dgm:resizeHandles val="exact"/>
        </dgm:presLayoutVars>
      </dgm:prSet>
      <dgm:spPr/>
    </dgm:pt>
    <dgm:pt modelId="{D36C55F3-E3CB-46AA-90B4-994369B72023}" type="pres">
      <dgm:prSet presAssocID="{600F7BD5-727A-46CE-AF50-F0BDE517A6A8}" presName="container" presStyleCnt="0">
        <dgm:presLayoutVars>
          <dgm:dir/>
          <dgm:resizeHandles val="exact"/>
        </dgm:presLayoutVars>
      </dgm:prSet>
      <dgm:spPr/>
    </dgm:pt>
    <dgm:pt modelId="{95D071A7-CA66-4974-AF75-6140AB9CC43F}" type="pres">
      <dgm:prSet presAssocID="{6090549E-0462-4AFE-A607-E8E509FA338D}" presName="compNode" presStyleCnt="0"/>
      <dgm:spPr/>
    </dgm:pt>
    <dgm:pt modelId="{58DF829C-0050-4275-BE64-FE25D4F016DD}" type="pres">
      <dgm:prSet presAssocID="{6090549E-0462-4AFE-A607-E8E509FA338D}" presName="iconBgRect" presStyleLbl="bgShp" presStyleIdx="0" presStyleCnt="3"/>
      <dgm:spPr/>
    </dgm:pt>
    <dgm:pt modelId="{9D4BC880-E376-4C6E-AAD7-FC560BB2E0A0}" type="pres">
      <dgm:prSet presAssocID="{6090549E-0462-4AFE-A607-E8E509FA338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8849DB2D-B9FE-49C6-9D04-29C91889295F}" type="pres">
      <dgm:prSet presAssocID="{6090549E-0462-4AFE-A607-E8E509FA338D}" presName="spaceRect" presStyleCnt="0"/>
      <dgm:spPr/>
    </dgm:pt>
    <dgm:pt modelId="{2536830C-B5FE-43B1-8073-659DA73D94EE}" type="pres">
      <dgm:prSet presAssocID="{6090549E-0462-4AFE-A607-E8E509FA338D}" presName="textRect" presStyleLbl="revTx" presStyleIdx="0" presStyleCnt="3">
        <dgm:presLayoutVars>
          <dgm:chMax val="1"/>
          <dgm:chPref val="1"/>
        </dgm:presLayoutVars>
      </dgm:prSet>
      <dgm:spPr/>
    </dgm:pt>
    <dgm:pt modelId="{C4640810-3BA4-42FB-9D63-14B185E82B6A}" type="pres">
      <dgm:prSet presAssocID="{5C7141F3-1818-4B19-BBB4-46E86FC4EB5B}" presName="sibTrans" presStyleLbl="sibTrans2D1" presStyleIdx="0" presStyleCnt="0"/>
      <dgm:spPr/>
    </dgm:pt>
    <dgm:pt modelId="{160A048F-D69D-4386-A85D-A9FE02FD4C9E}" type="pres">
      <dgm:prSet presAssocID="{D6A4CD59-C3EE-4B7F-B39F-A6088CD9E613}" presName="compNode" presStyleCnt="0"/>
      <dgm:spPr/>
    </dgm:pt>
    <dgm:pt modelId="{0D70D23E-F7CE-4ECF-AB2F-0BF60F81C25F}" type="pres">
      <dgm:prSet presAssocID="{D6A4CD59-C3EE-4B7F-B39F-A6088CD9E613}" presName="iconBgRect" presStyleLbl="bgShp" presStyleIdx="1" presStyleCnt="3"/>
      <dgm:spPr/>
    </dgm:pt>
    <dgm:pt modelId="{BB861D27-3F63-4DED-AA74-9E5A494F86A6}" type="pres">
      <dgm:prSet presAssocID="{D6A4CD59-C3EE-4B7F-B39F-A6088CD9E61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1C43E2A1-B719-4AC4-AB0C-396FE8AD3F91}" type="pres">
      <dgm:prSet presAssocID="{D6A4CD59-C3EE-4B7F-B39F-A6088CD9E613}" presName="spaceRect" presStyleCnt="0"/>
      <dgm:spPr/>
    </dgm:pt>
    <dgm:pt modelId="{C8556F24-878E-4E0A-9A4E-B444A2186291}" type="pres">
      <dgm:prSet presAssocID="{D6A4CD59-C3EE-4B7F-B39F-A6088CD9E613}" presName="textRect" presStyleLbl="revTx" presStyleIdx="1" presStyleCnt="3">
        <dgm:presLayoutVars>
          <dgm:chMax val="1"/>
          <dgm:chPref val="1"/>
        </dgm:presLayoutVars>
      </dgm:prSet>
      <dgm:spPr/>
    </dgm:pt>
    <dgm:pt modelId="{2BA23B6A-704F-4198-A099-159374A2B295}" type="pres">
      <dgm:prSet presAssocID="{A08AA86C-E509-47B0-8021-264EA3B405BF}" presName="sibTrans" presStyleLbl="sibTrans2D1" presStyleIdx="0" presStyleCnt="0"/>
      <dgm:spPr/>
    </dgm:pt>
    <dgm:pt modelId="{109F75C4-5D09-4F0F-9B90-FA65FC2564BA}" type="pres">
      <dgm:prSet presAssocID="{0A298529-4839-4179-8DED-F886E925E476}" presName="compNode" presStyleCnt="0"/>
      <dgm:spPr/>
    </dgm:pt>
    <dgm:pt modelId="{F7B3A840-F3B5-408B-B699-B966843A0058}" type="pres">
      <dgm:prSet presAssocID="{0A298529-4839-4179-8DED-F886E925E476}" presName="iconBgRect" presStyleLbl="bgShp" presStyleIdx="2" presStyleCnt="3"/>
      <dgm:spPr/>
    </dgm:pt>
    <dgm:pt modelId="{2D66CD82-436C-4390-A90E-CA38986901EE}" type="pres">
      <dgm:prSet presAssocID="{0A298529-4839-4179-8DED-F886E925E47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1842CB3D-D913-4CAE-B233-C07C25654E74}" type="pres">
      <dgm:prSet presAssocID="{0A298529-4839-4179-8DED-F886E925E476}" presName="spaceRect" presStyleCnt="0"/>
      <dgm:spPr/>
    </dgm:pt>
    <dgm:pt modelId="{C96FF258-6CC8-4F5C-A1B7-4607CC01C2B3}" type="pres">
      <dgm:prSet presAssocID="{0A298529-4839-4179-8DED-F886E925E47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7C13219-332F-4A9C-8539-641F1C41F51B}" type="presOf" srcId="{0A298529-4839-4179-8DED-F886E925E476}" destId="{C96FF258-6CC8-4F5C-A1B7-4607CC01C2B3}" srcOrd="0" destOrd="0" presId="urn:microsoft.com/office/officeart/2018/2/layout/IconCircleList"/>
    <dgm:cxn modelId="{3FA98E20-A2F3-4439-B2BE-8A1CE06906A5}" srcId="{600F7BD5-727A-46CE-AF50-F0BDE517A6A8}" destId="{6090549E-0462-4AFE-A607-E8E509FA338D}" srcOrd="0" destOrd="0" parTransId="{FA5A87F8-87FF-4FF5-9DF6-73FFACF93EEC}" sibTransId="{5C7141F3-1818-4B19-BBB4-46E86FC4EB5B}"/>
    <dgm:cxn modelId="{607D1D6C-F61B-401A-9916-794126052E0B}" srcId="{600F7BD5-727A-46CE-AF50-F0BDE517A6A8}" destId="{0A298529-4839-4179-8DED-F886E925E476}" srcOrd="2" destOrd="0" parTransId="{97227D95-2413-4DD5-B52B-8780E12175A5}" sibTransId="{A5880844-260E-4DD6-9C8D-1280EAE3B1E1}"/>
    <dgm:cxn modelId="{216EAD70-7E1A-4ACD-8680-2B3A8BB9C437}" type="presOf" srcId="{5C7141F3-1818-4B19-BBB4-46E86FC4EB5B}" destId="{C4640810-3BA4-42FB-9D63-14B185E82B6A}" srcOrd="0" destOrd="0" presId="urn:microsoft.com/office/officeart/2018/2/layout/IconCircleList"/>
    <dgm:cxn modelId="{9EA33D52-30E4-481E-A113-42C26979BD53}" type="presOf" srcId="{600F7BD5-727A-46CE-AF50-F0BDE517A6A8}" destId="{D135B003-ED4A-4663-98AC-FB8C522D58E7}" srcOrd="0" destOrd="0" presId="urn:microsoft.com/office/officeart/2018/2/layout/IconCircleList"/>
    <dgm:cxn modelId="{814B12A4-2176-47B3-AC95-7EFEBD4592A5}" srcId="{600F7BD5-727A-46CE-AF50-F0BDE517A6A8}" destId="{D6A4CD59-C3EE-4B7F-B39F-A6088CD9E613}" srcOrd="1" destOrd="0" parTransId="{553BCD10-A14A-4AD4-92FE-F8416BAE5E95}" sibTransId="{A08AA86C-E509-47B0-8021-264EA3B405BF}"/>
    <dgm:cxn modelId="{2A393AC7-09EA-4ABE-9D4E-1DC91E3F39E8}" type="presOf" srcId="{D6A4CD59-C3EE-4B7F-B39F-A6088CD9E613}" destId="{C8556F24-878E-4E0A-9A4E-B444A2186291}" srcOrd="0" destOrd="0" presId="urn:microsoft.com/office/officeart/2018/2/layout/IconCircleList"/>
    <dgm:cxn modelId="{1587C7E6-1642-4319-B144-FF9FFF0C1F73}" type="presOf" srcId="{A08AA86C-E509-47B0-8021-264EA3B405BF}" destId="{2BA23B6A-704F-4198-A099-159374A2B295}" srcOrd="0" destOrd="0" presId="urn:microsoft.com/office/officeart/2018/2/layout/IconCircleList"/>
    <dgm:cxn modelId="{9656F6FE-11D6-485F-BC8C-FF789EC58791}" type="presOf" srcId="{6090549E-0462-4AFE-A607-E8E509FA338D}" destId="{2536830C-B5FE-43B1-8073-659DA73D94EE}" srcOrd="0" destOrd="0" presId="urn:microsoft.com/office/officeart/2018/2/layout/IconCircleList"/>
    <dgm:cxn modelId="{6AB07015-663D-497F-9960-726FC1D65353}" type="presParOf" srcId="{D135B003-ED4A-4663-98AC-FB8C522D58E7}" destId="{D36C55F3-E3CB-46AA-90B4-994369B72023}" srcOrd="0" destOrd="0" presId="urn:microsoft.com/office/officeart/2018/2/layout/IconCircleList"/>
    <dgm:cxn modelId="{937BC936-98A1-479C-BBE0-94470EADD99C}" type="presParOf" srcId="{D36C55F3-E3CB-46AA-90B4-994369B72023}" destId="{95D071A7-CA66-4974-AF75-6140AB9CC43F}" srcOrd="0" destOrd="0" presId="urn:microsoft.com/office/officeart/2018/2/layout/IconCircleList"/>
    <dgm:cxn modelId="{F712BC43-48C1-4608-98D1-EA2A9F8A08F5}" type="presParOf" srcId="{95D071A7-CA66-4974-AF75-6140AB9CC43F}" destId="{58DF829C-0050-4275-BE64-FE25D4F016DD}" srcOrd="0" destOrd="0" presId="urn:microsoft.com/office/officeart/2018/2/layout/IconCircleList"/>
    <dgm:cxn modelId="{8439446C-BEC9-406B-BF6E-20D2B91872ED}" type="presParOf" srcId="{95D071A7-CA66-4974-AF75-6140AB9CC43F}" destId="{9D4BC880-E376-4C6E-AAD7-FC560BB2E0A0}" srcOrd="1" destOrd="0" presId="urn:microsoft.com/office/officeart/2018/2/layout/IconCircleList"/>
    <dgm:cxn modelId="{D889510E-3A22-451D-91E8-6B40D2556442}" type="presParOf" srcId="{95D071A7-CA66-4974-AF75-6140AB9CC43F}" destId="{8849DB2D-B9FE-49C6-9D04-29C91889295F}" srcOrd="2" destOrd="0" presId="urn:microsoft.com/office/officeart/2018/2/layout/IconCircleList"/>
    <dgm:cxn modelId="{18614F11-7D77-4E98-96EE-E13AD15D5AAA}" type="presParOf" srcId="{95D071A7-CA66-4974-AF75-6140AB9CC43F}" destId="{2536830C-B5FE-43B1-8073-659DA73D94EE}" srcOrd="3" destOrd="0" presId="urn:microsoft.com/office/officeart/2018/2/layout/IconCircleList"/>
    <dgm:cxn modelId="{CC302644-4199-4AB5-95EF-93C8DBE56A38}" type="presParOf" srcId="{D36C55F3-E3CB-46AA-90B4-994369B72023}" destId="{C4640810-3BA4-42FB-9D63-14B185E82B6A}" srcOrd="1" destOrd="0" presId="urn:microsoft.com/office/officeart/2018/2/layout/IconCircleList"/>
    <dgm:cxn modelId="{BA325F1A-B205-4EE8-91D3-B2024961BFED}" type="presParOf" srcId="{D36C55F3-E3CB-46AA-90B4-994369B72023}" destId="{160A048F-D69D-4386-A85D-A9FE02FD4C9E}" srcOrd="2" destOrd="0" presId="urn:microsoft.com/office/officeart/2018/2/layout/IconCircleList"/>
    <dgm:cxn modelId="{D820CE63-62F3-4FAD-958A-F20F9BD64511}" type="presParOf" srcId="{160A048F-D69D-4386-A85D-A9FE02FD4C9E}" destId="{0D70D23E-F7CE-4ECF-AB2F-0BF60F81C25F}" srcOrd="0" destOrd="0" presId="urn:microsoft.com/office/officeart/2018/2/layout/IconCircleList"/>
    <dgm:cxn modelId="{DB6C695A-D99B-44AD-A486-2B492AB8C334}" type="presParOf" srcId="{160A048F-D69D-4386-A85D-A9FE02FD4C9E}" destId="{BB861D27-3F63-4DED-AA74-9E5A494F86A6}" srcOrd="1" destOrd="0" presId="urn:microsoft.com/office/officeart/2018/2/layout/IconCircleList"/>
    <dgm:cxn modelId="{90FD23F9-6342-43B1-BCD7-324125B202AF}" type="presParOf" srcId="{160A048F-D69D-4386-A85D-A9FE02FD4C9E}" destId="{1C43E2A1-B719-4AC4-AB0C-396FE8AD3F91}" srcOrd="2" destOrd="0" presId="urn:microsoft.com/office/officeart/2018/2/layout/IconCircleList"/>
    <dgm:cxn modelId="{651E6C5D-5282-45CE-B22A-4D00A3DE0F5A}" type="presParOf" srcId="{160A048F-D69D-4386-A85D-A9FE02FD4C9E}" destId="{C8556F24-878E-4E0A-9A4E-B444A2186291}" srcOrd="3" destOrd="0" presId="urn:microsoft.com/office/officeart/2018/2/layout/IconCircleList"/>
    <dgm:cxn modelId="{326B063F-071D-4876-AB67-C76C6EBC8FC0}" type="presParOf" srcId="{D36C55F3-E3CB-46AA-90B4-994369B72023}" destId="{2BA23B6A-704F-4198-A099-159374A2B295}" srcOrd="3" destOrd="0" presId="urn:microsoft.com/office/officeart/2018/2/layout/IconCircleList"/>
    <dgm:cxn modelId="{9B245B47-E060-4D5C-8F12-E4DE21CDF462}" type="presParOf" srcId="{D36C55F3-E3CB-46AA-90B4-994369B72023}" destId="{109F75C4-5D09-4F0F-9B90-FA65FC2564BA}" srcOrd="4" destOrd="0" presId="urn:microsoft.com/office/officeart/2018/2/layout/IconCircleList"/>
    <dgm:cxn modelId="{038C3814-56F7-410E-A67B-572BBEAF554D}" type="presParOf" srcId="{109F75C4-5D09-4F0F-9B90-FA65FC2564BA}" destId="{F7B3A840-F3B5-408B-B699-B966843A0058}" srcOrd="0" destOrd="0" presId="urn:microsoft.com/office/officeart/2018/2/layout/IconCircleList"/>
    <dgm:cxn modelId="{613DCC79-5278-44E3-845F-E2F46C9C7180}" type="presParOf" srcId="{109F75C4-5D09-4F0F-9B90-FA65FC2564BA}" destId="{2D66CD82-436C-4390-A90E-CA38986901EE}" srcOrd="1" destOrd="0" presId="urn:microsoft.com/office/officeart/2018/2/layout/IconCircleList"/>
    <dgm:cxn modelId="{CE9CBD61-2453-46A0-BFFA-A1701B6532E3}" type="presParOf" srcId="{109F75C4-5D09-4F0F-9B90-FA65FC2564BA}" destId="{1842CB3D-D913-4CAE-B233-C07C25654E74}" srcOrd="2" destOrd="0" presId="urn:microsoft.com/office/officeart/2018/2/layout/IconCircleList"/>
    <dgm:cxn modelId="{E1D62AAA-C7AC-41E1-8010-A704718B7645}" type="presParOf" srcId="{109F75C4-5D09-4F0F-9B90-FA65FC2564BA}" destId="{C96FF258-6CC8-4F5C-A1B7-4607CC01C2B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3E692F-EC7A-4F56-B8BA-F212D84970E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9E37755-54A8-4982-B199-95F0BDD6D249}">
      <dgm:prSet/>
      <dgm:spPr/>
      <dgm:t>
        <a:bodyPr/>
        <a:lstStyle/>
        <a:p>
          <a:r>
            <a:rPr lang="en-US" b="1"/>
            <a:t>Phase 3: Dimensionality Reduction (PCA)</a:t>
          </a:r>
          <a:endParaRPr lang="en-US"/>
        </a:p>
      </dgm:t>
    </dgm:pt>
    <dgm:pt modelId="{59FF7D16-B7AF-410B-B5EA-35E56CAFE619}" type="parTrans" cxnId="{F410A734-23BF-4321-8987-3BA8CF0B7713}">
      <dgm:prSet/>
      <dgm:spPr/>
      <dgm:t>
        <a:bodyPr/>
        <a:lstStyle/>
        <a:p>
          <a:endParaRPr lang="en-US"/>
        </a:p>
      </dgm:t>
    </dgm:pt>
    <dgm:pt modelId="{D4E41AF2-0F62-4762-BD6F-1BF9C6BB359C}" type="sibTrans" cxnId="{F410A734-23BF-4321-8987-3BA8CF0B7713}">
      <dgm:prSet/>
      <dgm:spPr/>
      <dgm:t>
        <a:bodyPr/>
        <a:lstStyle/>
        <a:p>
          <a:endParaRPr lang="en-US"/>
        </a:p>
      </dgm:t>
    </dgm:pt>
    <dgm:pt modelId="{6A8F071C-852E-4D87-AD0B-F5BC62FD00E1}">
      <dgm:prSet/>
      <dgm:spPr/>
      <dgm:t>
        <a:bodyPr/>
        <a:lstStyle/>
        <a:p>
          <a:r>
            <a:rPr lang="en-US"/>
            <a:t>Uses Principal Component Analysis (PCA) to compress sparse, high-dimensional WFM embeddings.</a:t>
          </a:r>
        </a:p>
      </dgm:t>
    </dgm:pt>
    <dgm:pt modelId="{A3738B42-70DD-4D2F-9346-B8E11212AE30}" type="parTrans" cxnId="{18619460-AB07-44D5-9A30-A7067A10E12A}">
      <dgm:prSet/>
      <dgm:spPr/>
      <dgm:t>
        <a:bodyPr/>
        <a:lstStyle/>
        <a:p>
          <a:endParaRPr lang="en-US"/>
        </a:p>
      </dgm:t>
    </dgm:pt>
    <dgm:pt modelId="{FD39023A-8520-4D4E-ABFA-08B8DAE1D995}" type="sibTrans" cxnId="{18619460-AB07-44D5-9A30-A7067A10E12A}">
      <dgm:prSet/>
      <dgm:spPr/>
      <dgm:t>
        <a:bodyPr/>
        <a:lstStyle/>
        <a:p>
          <a:endParaRPr lang="en-US"/>
        </a:p>
      </dgm:t>
    </dgm:pt>
    <dgm:pt modelId="{EEA7A915-81D2-49D2-BE4F-91DBD65AD763}">
      <dgm:prSet/>
      <dgm:spPr/>
      <dgm:t>
        <a:bodyPr/>
        <a:lstStyle/>
        <a:p>
          <a:r>
            <a:rPr lang="en-US"/>
            <a:t>Transforms raw embeddings into robust, dense, and manageable feature vectors.</a:t>
          </a:r>
        </a:p>
      </dgm:t>
    </dgm:pt>
    <dgm:pt modelId="{51A4364D-DB96-418F-87CA-3A7757D76971}" type="parTrans" cxnId="{94A171B4-109E-4F7D-8F27-1CD8E6672798}">
      <dgm:prSet/>
      <dgm:spPr/>
      <dgm:t>
        <a:bodyPr/>
        <a:lstStyle/>
        <a:p>
          <a:endParaRPr lang="en-US"/>
        </a:p>
      </dgm:t>
    </dgm:pt>
    <dgm:pt modelId="{73424F71-71A3-41EF-89A5-34BC846BFC53}" type="sibTrans" cxnId="{94A171B4-109E-4F7D-8F27-1CD8E6672798}">
      <dgm:prSet/>
      <dgm:spPr/>
      <dgm:t>
        <a:bodyPr/>
        <a:lstStyle/>
        <a:p>
          <a:endParaRPr lang="en-US"/>
        </a:p>
      </dgm:t>
    </dgm:pt>
    <dgm:pt modelId="{FAEEBADA-F557-48A1-A885-3A4AC865C3FA}" type="pres">
      <dgm:prSet presAssocID="{8B3E692F-EC7A-4F56-B8BA-F212D84970E3}" presName="root" presStyleCnt="0">
        <dgm:presLayoutVars>
          <dgm:dir/>
          <dgm:resizeHandles val="exact"/>
        </dgm:presLayoutVars>
      </dgm:prSet>
      <dgm:spPr/>
    </dgm:pt>
    <dgm:pt modelId="{8E5E104B-E156-4E1F-91E5-11EB6BD6D5D5}" type="pres">
      <dgm:prSet presAssocID="{8B3E692F-EC7A-4F56-B8BA-F212D84970E3}" presName="container" presStyleCnt="0">
        <dgm:presLayoutVars>
          <dgm:dir/>
          <dgm:resizeHandles val="exact"/>
        </dgm:presLayoutVars>
      </dgm:prSet>
      <dgm:spPr/>
    </dgm:pt>
    <dgm:pt modelId="{FF53EA3C-86AB-4562-8C50-BCBAE688589F}" type="pres">
      <dgm:prSet presAssocID="{89E37755-54A8-4982-B199-95F0BDD6D249}" presName="compNode" presStyleCnt="0"/>
      <dgm:spPr/>
    </dgm:pt>
    <dgm:pt modelId="{A50E3AD1-2763-46D1-8E86-E28A3C112066}" type="pres">
      <dgm:prSet presAssocID="{89E37755-54A8-4982-B199-95F0BDD6D249}" presName="iconBgRect" presStyleLbl="bgShp" presStyleIdx="0" presStyleCnt="3"/>
      <dgm:spPr/>
    </dgm:pt>
    <dgm:pt modelId="{387B220C-23F4-49B9-A9B8-F48D9EF1FE10}" type="pres">
      <dgm:prSet presAssocID="{89E37755-54A8-4982-B199-95F0BDD6D24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FA2537AD-E5A9-4766-932D-E8856D21CA44}" type="pres">
      <dgm:prSet presAssocID="{89E37755-54A8-4982-B199-95F0BDD6D249}" presName="spaceRect" presStyleCnt="0"/>
      <dgm:spPr/>
    </dgm:pt>
    <dgm:pt modelId="{CDD0BF55-E8BC-4A09-9075-A9BFA239BAA9}" type="pres">
      <dgm:prSet presAssocID="{89E37755-54A8-4982-B199-95F0BDD6D249}" presName="textRect" presStyleLbl="revTx" presStyleIdx="0" presStyleCnt="3">
        <dgm:presLayoutVars>
          <dgm:chMax val="1"/>
          <dgm:chPref val="1"/>
        </dgm:presLayoutVars>
      </dgm:prSet>
      <dgm:spPr/>
    </dgm:pt>
    <dgm:pt modelId="{45FFE75F-F1D6-4520-AAB3-43C12D49A89B}" type="pres">
      <dgm:prSet presAssocID="{D4E41AF2-0F62-4762-BD6F-1BF9C6BB359C}" presName="sibTrans" presStyleLbl="sibTrans2D1" presStyleIdx="0" presStyleCnt="0"/>
      <dgm:spPr/>
    </dgm:pt>
    <dgm:pt modelId="{3EEB9E00-1843-487C-AD09-C454978221D5}" type="pres">
      <dgm:prSet presAssocID="{6A8F071C-852E-4D87-AD0B-F5BC62FD00E1}" presName="compNode" presStyleCnt="0"/>
      <dgm:spPr/>
    </dgm:pt>
    <dgm:pt modelId="{825BB003-48EE-49DB-8978-5F82BDF7A47A}" type="pres">
      <dgm:prSet presAssocID="{6A8F071C-852E-4D87-AD0B-F5BC62FD00E1}" presName="iconBgRect" presStyleLbl="bgShp" presStyleIdx="1" presStyleCnt="3"/>
      <dgm:spPr/>
    </dgm:pt>
    <dgm:pt modelId="{27C4F431-C74C-4CD7-ABF9-7C6D3F182D7D}" type="pres">
      <dgm:prSet presAssocID="{6A8F071C-852E-4D87-AD0B-F5BC62FD00E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CD13909-AFCD-4600-A3CF-D0A9CF899F81}" type="pres">
      <dgm:prSet presAssocID="{6A8F071C-852E-4D87-AD0B-F5BC62FD00E1}" presName="spaceRect" presStyleCnt="0"/>
      <dgm:spPr/>
    </dgm:pt>
    <dgm:pt modelId="{0E1E881B-B1B0-4B1E-AE16-EBF9426AEEB8}" type="pres">
      <dgm:prSet presAssocID="{6A8F071C-852E-4D87-AD0B-F5BC62FD00E1}" presName="textRect" presStyleLbl="revTx" presStyleIdx="1" presStyleCnt="3">
        <dgm:presLayoutVars>
          <dgm:chMax val="1"/>
          <dgm:chPref val="1"/>
        </dgm:presLayoutVars>
      </dgm:prSet>
      <dgm:spPr/>
    </dgm:pt>
    <dgm:pt modelId="{1454AE58-0552-4837-80F8-3F3A51DB42F0}" type="pres">
      <dgm:prSet presAssocID="{FD39023A-8520-4D4E-ABFA-08B8DAE1D995}" presName="sibTrans" presStyleLbl="sibTrans2D1" presStyleIdx="0" presStyleCnt="0"/>
      <dgm:spPr/>
    </dgm:pt>
    <dgm:pt modelId="{2A6CEBD4-8293-4DA1-9D1F-7F0CAA7748C2}" type="pres">
      <dgm:prSet presAssocID="{EEA7A915-81D2-49D2-BE4F-91DBD65AD763}" presName="compNode" presStyleCnt="0"/>
      <dgm:spPr/>
    </dgm:pt>
    <dgm:pt modelId="{C6EAFF5C-846A-4793-BA1C-47EE24105891}" type="pres">
      <dgm:prSet presAssocID="{EEA7A915-81D2-49D2-BE4F-91DBD65AD763}" presName="iconBgRect" presStyleLbl="bgShp" presStyleIdx="2" presStyleCnt="3"/>
      <dgm:spPr/>
    </dgm:pt>
    <dgm:pt modelId="{93ABB606-3838-4170-AFFC-C38BCEAF458A}" type="pres">
      <dgm:prSet presAssocID="{EEA7A915-81D2-49D2-BE4F-91DBD65AD76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7DD2AA2-AA31-4B19-BB1A-F2142A0F9C5C}" type="pres">
      <dgm:prSet presAssocID="{EEA7A915-81D2-49D2-BE4F-91DBD65AD763}" presName="spaceRect" presStyleCnt="0"/>
      <dgm:spPr/>
    </dgm:pt>
    <dgm:pt modelId="{929853E1-C802-4310-90D8-6AC400EDF525}" type="pres">
      <dgm:prSet presAssocID="{EEA7A915-81D2-49D2-BE4F-91DBD65AD76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410A734-23BF-4321-8987-3BA8CF0B7713}" srcId="{8B3E692F-EC7A-4F56-B8BA-F212D84970E3}" destId="{89E37755-54A8-4982-B199-95F0BDD6D249}" srcOrd="0" destOrd="0" parTransId="{59FF7D16-B7AF-410B-B5EA-35E56CAFE619}" sibTransId="{D4E41AF2-0F62-4762-BD6F-1BF9C6BB359C}"/>
    <dgm:cxn modelId="{C9E3B135-7F94-4817-891E-769BA044FDC8}" type="presOf" srcId="{6A8F071C-852E-4D87-AD0B-F5BC62FD00E1}" destId="{0E1E881B-B1B0-4B1E-AE16-EBF9426AEEB8}" srcOrd="0" destOrd="0" presId="urn:microsoft.com/office/officeart/2018/2/layout/IconCircleList"/>
    <dgm:cxn modelId="{2F15095B-ACF0-4594-8EA4-BAC0CF19C5A5}" type="presOf" srcId="{FD39023A-8520-4D4E-ABFA-08B8DAE1D995}" destId="{1454AE58-0552-4837-80F8-3F3A51DB42F0}" srcOrd="0" destOrd="0" presId="urn:microsoft.com/office/officeart/2018/2/layout/IconCircleList"/>
    <dgm:cxn modelId="{18619460-AB07-44D5-9A30-A7067A10E12A}" srcId="{8B3E692F-EC7A-4F56-B8BA-F212D84970E3}" destId="{6A8F071C-852E-4D87-AD0B-F5BC62FD00E1}" srcOrd="1" destOrd="0" parTransId="{A3738B42-70DD-4D2F-9346-B8E11212AE30}" sibTransId="{FD39023A-8520-4D4E-ABFA-08B8DAE1D995}"/>
    <dgm:cxn modelId="{A720E356-2A35-467B-B40D-45150549B8C4}" type="presOf" srcId="{EEA7A915-81D2-49D2-BE4F-91DBD65AD763}" destId="{929853E1-C802-4310-90D8-6AC400EDF525}" srcOrd="0" destOrd="0" presId="urn:microsoft.com/office/officeart/2018/2/layout/IconCircleList"/>
    <dgm:cxn modelId="{CAB67EAC-66C8-4610-8727-82CE624B45C0}" type="presOf" srcId="{89E37755-54A8-4982-B199-95F0BDD6D249}" destId="{CDD0BF55-E8BC-4A09-9075-A9BFA239BAA9}" srcOrd="0" destOrd="0" presId="urn:microsoft.com/office/officeart/2018/2/layout/IconCircleList"/>
    <dgm:cxn modelId="{94A171B4-109E-4F7D-8F27-1CD8E6672798}" srcId="{8B3E692F-EC7A-4F56-B8BA-F212D84970E3}" destId="{EEA7A915-81D2-49D2-BE4F-91DBD65AD763}" srcOrd="2" destOrd="0" parTransId="{51A4364D-DB96-418F-87CA-3A7757D76971}" sibTransId="{73424F71-71A3-41EF-89A5-34BC846BFC53}"/>
    <dgm:cxn modelId="{946F7DFC-F106-4DF6-B237-4B1C077CC2A0}" type="presOf" srcId="{D4E41AF2-0F62-4762-BD6F-1BF9C6BB359C}" destId="{45FFE75F-F1D6-4520-AAB3-43C12D49A89B}" srcOrd="0" destOrd="0" presId="urn:microsoft.com/office/officeart/2018/2/layout/IconCircleList"/>
    <dgm:cxn modelId="{52E31FFE-8931-4EB6-B66F-6842A202A32E}" type="presOf" srcId="{8B3E692F-EC7A-4F56-B8BA-F212D84970E3}" destId="{FAEEBADA-F557-48A1-A885-3A4AC865C3FA}" srcOrd="0" destOrd="0" presId="urn:microsoft.com/office/officeart/2018/2/layout/IconCircleList"/>
    <dgm:cxn modelId="{75489E07-0E13-41A4-B663-1F3FBD56C4F8}" type="presParOf" srcId="{FAEEBADA-F557-48A1-A885-3A4AC865C3FA}" destId="{8E5E104B-E156-4E1F-91E5-11EB6BD6D5D5}" srcOrd="0" destOrd="0" presId="urn:microsoft.com/office/officeart/2018/2/layout/IconCircleList"/>
    <dgm:cxn modelId="{A7513AE6-0817-434E-B414-574A542238A6}" type="presParOf" srcId="{8E5E104B-E156-4E1F-91E5-11EB6BD6D5D5}" destId="{FF53EA3C-86AB-4562-8C50-BCBAE688589F}" srcOrd="0" destOrd="0" presId="urn:microsoft.com/office/officeart/2018/2/layout/IconCircleList"/>
    <dgm:cxn modelId="{C65F5DCF-BD62-42DF-9EE5-A22AAF76D65E}" type="presParOf" srcId="{FF53EA3C-86AB-4562-8C50-BCBAE688589F}" destId="{A50E3AD1-2763-46D1-8E86-E28A3C112066}" srcOrd="0" destOrd="0" presId="urn:microsoft.com/office/officeart/2018/2/layout/IconCircleList"/>
    <dgm:cxn modelId="{D9EDA157-73C9-4EDD-8DBE-BF7230DDED84}" type="presParOf" srcId="{FF53EA3C-86AB-4562-8C50-BCBAE688589F}" destId="{387B220C-23F4-49B9-A9B8-F48D9EF1FE10}" srcOrd="1" destOrd="0" presId="urn:microsoft.com/office/officeart/2018/2/layout/IconCircleList"/>
    <dgm:cxn modelId="{B839034E-4F79-4BBF-9ECB-5D6F0BF4F6F4}" type="presParOf" srcId="{FF53EA3C-86AB-4562-8C50-BCBAE688589F}" destId="{FA2537AD-E5A9-4766-932D-E8856D21CA44}" srcOrd="2" destOrd="0" presId="urn:microsoft.com/office/officeart/2018/2/layout/IconCircleList"/>
    <dgm:cxn modelId="{B953BC3E-DE2A-498F-810C-A1F00CC0EE85}" type="presParOf" srcId="{FF53EA3C-86AB-4562-8C50-BCBAE688589F}" destId="{CDD0BF55-E8BC-4A09-9075-A9BFA239BAA9}" srcOrd="3" destOrd="0" presId="urn:microsoft.com/office/officeart/2018/2/layout/IconCircleList"/>
    <dgm:cxn modelId="{C8D1FADC-B634-4B3B-BA75-807A0111C5F1}" type="presParOf" srcId="{8E5E104B-E156-4E1F-91E5-11EB6BD6D5D5}" destId="{45FFE75F-F1D6-4520-AAB3-43C12D49A89B}" srcOrd="1" destOrd="0" presId="urn:microsoft.com/office/officeart/2018/2/layout/IconCircleList"/>
    <dgm:cxn modelId="{97394ADF-9D90-4151-876F-CFEF372BB112}" type="presParOf" srcId="{8E5E104B-E156-4E1F-91E5-11EB6BD6D5D5}" destId="{3EEB9E00-1843-487C-AD09-C454978221D5}" srcOrd="2" destOrd="0" presId="urn:microsoft.com/office/officeart/2018/2/layout/IconCircleList"/>
    <dgm:cxn modelId="{43BE1EF5-9F9E-479E-AE94-DEF00104D9F9}" type="presParOf" srcId="{3EEB9E00-1843-487C-AD09-C454978221D5}" destId="{825BB003-48EE-49DB-8978-5F82BDF7A47A}" srcOrd="0" destOrd="0" presId="urn:microsoft.com/office/officeart/2018/2/layout/IconCircleList"/>
    <dgm:cxn modelId="{401CFC4F-880A-4DE7-B81A-7356CD247812}" type="presParOf" srcId="{3EEB9E00-1843-487C-AD09-C454978221D5}" destId="{27C4F431-C74C-4CD7-ABF9-7C6D3F182D7D}" srcOrd="1" destOrd="0" presId="urn:microsoft.com/office/officeart/2018/2/layout/IconCircleList"/>
    <dgm:cxn modelId="{E015686B-49D5-4885-AA4A-0FAE478A2B46}" type="presParOf" srcId="{3EEB9E00-1843-487C-AD09-C454978221D5}" destId="{8CD13909-AFCD-4600-A3CF-D0A9CF899F81}" srcOrd="2" destOrd="0" presId="urn:microsoft.com/office/officeart/2018/2/layout/IconCircleList"/>
    <dgm:cxn modelId="{4A723A21-5FAD-478E-AF2C-C6AE2B04C7FD}" type="presParOf" srcId="{3EEB9E00-1843-487C-AD09-C454978221D5}" destId="{0E1E881B-B1B0-4B1E-AE16-EBF9426AEEB8}" srcOrd="3" destOrd="0" presId="urn:microsoft.com/office/officeart/2018/2/layout/IconCircleList"/>
    <dgm:cxn modelId="{31C7A3E3-75DA-456D-AA1E-7E178F3DD5EE}" type="presParOf" srcId="{8E5E104B-E156-4E1F-91E5-11EB6BD6D5D5}" destId="{1454AE58-0552-4837-80F8-3F3A51DB42F0}" srcOrd="3" destOrd="0" presId="urn:microsoft.com/office/officeart/2018/2/layout/IconCircleList"/>
    <dgm:cxn modelId="{C05F2B4A-0AA7-4C2D-9338-696F69F5601D}" type="presParOf" srcId="{8E5E104B-E156-4E1F-91E5-11EB6BD6D5D5}" destId="{2A6CEBD4-8293-4DA1-9D1F-7F0CAA7748C2}" srcOrd="4" destOrd="0" presId="urn:microsoft.com/office/officeart/2018/2/layout/IconCircleList"/>
    <dgm:cxn modelId="{8B3EC225-6C55-4C12-B039-B009D2ED51A2}" type="presParOf" srcId="{2A6CEBD4-8293-4DA1-9D1F-7F0CAA7748C2}" destId="{C6EAFF5C-846A-4793-BA1C-47EE24105891}" srcOrd="0" destOrd="0" presId="urn:microsoft.com/office/officeart/2018/2/layout/IconCircleList"/>
    <dgm:cxn modelId="{131811F4-A44A-44F6-97D6-CCFF3112BE5D}" type="presParOf" srcId="{2A6CEBD4-8293-4DA1-9D1F-7F0CAA7748C2}" destId="{93ABB606-3838-4170-AFFC-C38BCEAF458A}" srcOrd="1" destOrd="0" presId="urn:microsoft.com/office/officeart/2018/2/layout/IconCircleList"/>
    <dgm:cxn modelId="{4EA93114-86AB-4626-A96D-63A650C5B2D0}" type="presParOf" srcId="{2A6CEBD4-8293-4DA1-9D1F-7F0CAA7748C2}" destId="{37DD2AA2-AA31-4B19-BB1A-F2142A0F9C5C}" srcOrd="2" destOrd="0" presId="urn:microsoft.com/office/officeart/2018/2/layout/IconCircleList"/>
    <dgm:cxn modelId="{130188BE-4EFC-41E0-92E8-C5B5E908AC5A}" type="presParOf" srcId="{2A6CEBD4-8293-4DA1-9D1F-7F0CAA7748C2}" destId="{929853E1-C802-4310-90D8-6AC400EDF52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30CCE10-D0DA-4F46-B2E2-E2DAC299920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932CC98-5649-4848-A5E5-6A438B60A906}">
      <dgm:prSet/>
      <dgm:spPr/>
      <dgm:t>
        <a:bodyPr/>
        <a:lstStyle/>
        <a:p>
          <a:pPr>
            <a:defRPr cap="all"/>
          </a:pPr>
          <a:r>
            <a:rPr lang="en-US" b="1"/>
            <a:t>Phase 4: Multimodal Late Fusion</a:t>
          </a:r>
          <a:endParaRPr lang="en-US"/>
        </a:p>
      </dgm:t>
    </dgm:pt>
    <dgm:pt modelId="{7509C716-F424-4A5A-9F49-FE2B2751532A}" type="parTrans" cxnId="{9AC63C21-6E1A-4E2E-94BC-9EE109738856}">
      <dgm:prSet/>
      <dgm:spPr/>
      <dgm:t>
        <a:bodyPr/>
        <a:lstStyle/>
        <a:p>
          <a:endParaRPr lang="en-US"/>
        </a:p>
      </dgm:t>
    </dgm:pt>
    <dgm:pt modelId="{4C4AD324-BB27-4E7B-9C08-BA753D93784A}" type="sibTrans" cxnId="{9AC63C21-6E1A-4E2E-94BC-9EE109738856}">
      <dgm:prSet/>
      <dgm:spPr/>
      <dgm:t>
        <a:bodyPr/>
        <a:lstStyle/>
        <a:p>
          <a:endParaRPr lang="en-US"/>
        </a:p>
      </dgm:t>
    </dgm:pt>
    <dgm:pt modelId="{06FFF616-7356-4356-9905-1C06931EAC1A}">
      <dgm:prSet/>
      <dgm:spPr/>
      <dgm:t>
        <a:bodyPr/>
        <a:lstStyle/>
        <a:p>
          <a:pPr>
            <a:defRPr cap="all"/>
          </a:pPr>
          <a:r>
            <a:rPr lang="en-US"/>
            <a:t>Integrates </a:t>
          </a:r>
          <a:r>
            <a:rPr lang="en-US" b="1"/>
            <a:t>Static Features</a:t>
          </a:r>
          <a:r>
            <a:rPr lang="en-US"/>
            <a:t> (Demographics + Blood Biomarkers) with </a:t>
          </a:r>
          <a:r>
            <a:rPr lang="en-US" b="1"/>
            <a:t>Dynamic Features</a:t>
          </a:r>
          <a:r>
            <a:rPr lang="en-US"/>
            <a:t> (WFM Wearable Embeddings).</a:t>
          </a:r>
        </a:p>
      </dgm:t>
    </dgm:pt>
    <dgm:pt modelId="{8A405249-B461-469D-8BA0-4802BFFFCBE9}" type="parTrans" cxnId="{D97AC660-6AFB-4900-9A6B-7035DC6128A8}">
      <dgm:prSet/>
      <dgm:spPr/>
      <dgm:t>
        <a:bodyPr/>
        <a:lstStyle/>
        <a:p>
          <a:endParaRPr lang="en-US"/>
        </a:p>
      </dgm:t>
    </dgm:pt>
    <dgm:pt modelId="{C792F1C6-055D-418E-B40D-FE76B875B553}" type="sibTrans" cxnId="{D97AC660-6AFB-4900-9A6B-7035DC6128A8}">
      <dgm:prSet/>
      <dgm:spPr/>
      <dgm:t>
        <a:bodyPr/>
        <a:lstStyle/>
        <a:p>
          <a:endParaRPr lang="en-US"/>
        </a:p>
      </dgm:t>
    </dgm:pt>
    <dgm:pt modelId="{571E05EF-837E-4A52-9F2B-39D127388AC1}">
      <dgm:prSet/>
      <dgm:spPr/>
      <dgm:t>
        <a:bodyPr/>
        <a:lstStyle/>
        <a:p>
          <a:pPr>
            <a:defRPr cap="all"/>
          </a:pPr>
          <a:r>
            <a:rPr lang="en-US"/>
            <a:t>Feeds the combined data into a gradient-boosted ensemble model to predict continuous </a:t>
          </a:r>
          <a:r>
            <a:rPr lang="en-US" b="1"/>
            <a:t>HOMA-IR values</a:t>
          </a:r>
          <a:r>
            <a:rPr lang="en-US"/>
            <a:t> and perform classification.</a:t>
          </a:r>
        </a:p>
      </dgm:t>
    </dgm:pt>
    <dgm:pt modelId="{85F92C9E-9233-4D03-9462-A8AE90577D00}" type="parTrans" cxnId="{9EF37D23-E17F-44E4-A80B-236C23E49DA0}">
      <dgm:prSet/>
      <dgm:spPr/>
      <dgm:t>
        <a:bodyPr/>
        <a:lstStyle/>
        <a:p>
          <a:endParaRPr lang="en-US"/>
        </a:p>
      </dgm:t>
    </dgm:pt>
    <dgm:pt modelId="{26C670C0-78FC-4CE6-8CA2-8F7260FD9600}" type="sibTrans" cxnId="{9EF37D23-E17F-44E4-A80B-236C23E49DA0}">
      <dgm:prSet/>
      <dgm:spPr/>
      <dgm:t>
        <a:bodyPr/>
        <a:lstStyle/>
        <a:p>
          <a:endParaRPr lang="en-US"/>
        </a:p>
      </dgm:t>
    </dgm:pt>
    <dgm:pt modelId="{6DC13EA1-C891-4FB4-AEE9-3F9FE1921CF4}" type="pres">
      <dgm:prSet presAssocID="{030CCE10-D0DA-4F46-B2E2-E2DAC2999203}" presName="root" presStyleCnt="0">
        <dgm:presLayoutVars>
          <dgm:dir/>
          <dgm:resizeHandles val="exact"/>
        </dgm:presLayoutVars>
      </dgm:prSet>
      <dgm:spPr/>
    </dgm:pt>
    <dgm:pt modelId="{221C37E9-2148-4BDC-B7D1-2873428F71E9}" type="pres">
      <dgm:prSet presAssocID="{9932CC98-5649-4848-A5E5-6A438B60A906}" presName="compNode" presStyleCnt="0"/>
      <dgm:spPr/>
    </dgm:pt>
    <dgm:pt modelId="{83428B0F-1ADD-44B3-92D5-1E5AC0BF09CA}" type="pres">
      <dgm:prSet presAssocID="{9932CC98-5649-4848-A5E5-6A438B60A906}" presName="iconBgRect" presStyleLbl="bgShp" presStyleIdx="0" presStyleCnt="3"/>
      <dgm:spPr/>
    </dgm:pt>
    <dgm:pt modelId="{E4EBF05A-49CE-4F4A-BB21-9B248B4D9B68}" type="pres">
      <dgm:prSet presAssocID="{9932CC98-5649-4848-A5E5-6A438B60A90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FBBCAF98-805A-4553-BF7C-1DC2802668CE}" type="pres">
      <dgm:prSet presAssocID="{9932CC98-5649-4848-A5E5-6A438B60A906}" presName="spaceRect" presStyleCnt="0"/>
      <dgm:spPr/>
    </dgm:pt>
    <dgm:pt modelId="{E23720AE-E65B-46B5-9AD2-CCEE2BD198BA}" type="pres">
      <dgm:prSet presAssocID="{9932CC98-5649-4848-A5E5-6A438B60A906}" presName="textRect" presStyleLbl="revTx" presStyleIdx="0" presStyleCnt="3">
        <dgm:presLayoutVars>
          <dgm:chMax val="1"/>
          <dgm:chPref val="1"/>
        </dgm:presLayoutVars>
      </dgm:prSet>
      <dgm:spPr/>
    </dgm:pt>
    <dgm:pt modelId="{7BF6170B-2D33-4140-9727-0F67CCA70D49}" type="pres">
      <dgm:prSet presAssocID="{4C4AD324-BB27-4E7B-9C08-BA753D93784A}" presName="sibTrans" presStyleCnt="0"/>
      <dgm:spPr/>
    </dgm:pt>
    <dgm:pt modelId="{074F639B-0E58-4196-9E2A-08F6FAE16449}" type="pres">
      <dgm:prSet presAssocID="{06FFF616-7356-4356-9905-1C06931EAC1A}" presName="compNode" presStyleCnt="0"/>
      <dgm:spPr/>
    </dgm:pt>
    <dgm:pt modelId="{30B9A8AC-435E-4AB2-B151-48FD002DEC16}" type="pres">
      <dgm:prSet presAssocID="{06FFF616-7356-4356-9905-1C06931EAC1A}" presName="iconBgRect" presStyleLbl="bgShp" presStyleIdx="1" presStyleCnt="3"/>
      <dgm:spPr/>
    </dgm:pt>
    <dgm:pt modelId="{9AA02C18-F570-49CE-91AE-09416017911A}" type="pres">
      <dgm:prSet presAssocID="{06FFF616-7356-4356-9905-1C06931EAC1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3B1D82A-E2D3-48CA-B13A-A5EDCCAE1560}" type="pres">
      <dgm:prSet presAssocID="{06FFF616-7356-4356-9905-1C06931EAC1A}" presName="spaceRect" presStyleCnt="0"/>
      <dgm:spPr/>
    </dgm:pt>
    <dgm:pt modelId="{6E8AC33B-FDCB-458A-B604-8D0D8A0C442E}" type="pres">
      <dgm:prSet presAssocID="{06FFF616-7356-4356-9905-1C06931EAC1A}" presName="textRect" presStyleLbl="revTx" presStyleIdx="1" presStyleCnt="3">
        <dgm:presLayoutVars>
          <dgm:chMax val="1"/>
          <dgm:chPref val="1"/>
        </dgm:presLayoutVars>
      </dgm:prSet>
      <dgm:spPr/>
    </dgm:pt>
    <dgm:pt modelId="{2AB4DECF-0A70-46D9-899F-CFE4BBC6FCE9}" type="pres">
      <dgm:prSet presAssocID="{C792F1C6-055D-418E-B40D-FE76B875B553}" presName="sibTrans" presStyleCnt="0"/>
      <dgm:spPr/>
    </dgm:pt>
    <dgm:pt modelId="{6F9646E0-EDA5-4D57-A573-808CBB8900E1}" type="pres">
      <dgm:prSet presAssocID="{571E05EF-837E-4A52-9F2B-39D127388AC1}" presName="compNode" presStyleCnt="0"/>
      <dgm:spPr/>
    </dgm:pt>
    <dgm:pt modelId="{A96024E2-0FAF-49A9-9759-85BD98973467}" type="pres">
      <dgm:prSet presAssocID="{571E05EF-837E-4A52-9F2B-39D127388AC1}" presName="iconBgRect" presStyleLbl="bgShp" presStyleIdx="2" presStyleCnt="3"/>
      <dgm:spPr/>
    </dgm:pt>
    <dgm:pt modelId="{65B523B0-0177-4377-A210-8913E52E6C7A}" type="pres">
      <dgm:prSet presAssocID="{571E05EF-837E-4A52-9F2B-39D127388AC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2DC6C90-CD3C-457B-86AF-51DA64DACF60}" type="pres">
      <dgm:prSet presAssocID="{571E05EF-837E-4A52-9F2B-39D127388AC1}" presName="spaceRect" presStyleCnt="0"/>
      <dgm:spPr/>
    </dgm:pt>
    <dgm:pt modelId="{2BD355D4-0E39-44ED-895F-313C55C4BCC9}" type="pres">
      <dgm:prSet presAssocID="{571E05EF-837E-4A52-9F2B-39D127388AC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AC63C21-6E1A-4E2E-94BC-9EE109738856}" srcId="{030CCE10-D0DA-4F46-B2E2-E2DAC2999203}" destId="{9932CC98-5649-4848-A5E5-6A438B60A906}" srcOrd="0" destOrd="0" parTransId="{7509C716-F424-4A5A-9F49-FE2B2751532A}" sibTransId="{4C4AD324-BB27-4E7B-9C08-BA753D93784A}"/>
    <dgm:cxn modelId="{9EF37D23-E17F-44E4-A80B-236C23E49DA0}" srcId="{030CCE10-D0DA-4F46-B2E2-E2DAC2999203}" destId="{571E05EF-837E-4A52-9F2B-39D127388AC1}" srcOrd="2" destOrd="0" parTransId="{85F92C9E-9233-4D03-9462-A8AE90577D00}" sibTransId="{26C670C0-78FC-4CE6-8CA2-8F7260FD9600}"/>
    <dgm:cxn modelId="{BA4EF32C-89AE-4146-B130-C950F20F2E0D}" type="presOf" srcId="{571E05EF-837E-4A52-9F2B-39D127388AC1}" destId="{2BD355D4-0E39-44ED-895F-313C55C4BCC9}" srcOrd="0" destOrd="0" presId="urn:microsoft.com/office/officeart/2018/5/layout/IconCircleLabelList"/>
    <dgm:cxn modelId="{925E505C-36CC-45D6-A278-0DB8ACBFF0D6}" type="presOf" srcId="{9932CC98-5649-4848-A5E5-6A438B60A906}" destId="{E23720AE-E65B-46B5-9AD2-CCEE2BD198BA}" srcOrd="0" destOrd="0" presId="urn:microsoft.com/office/officeart/2018/5/layout/IconCircleLabelList"/>
    <dgm:cxn modelId="{D97AC660-6AFB-4900-9A6B-7035DC6128A8}" srcId="{030CCE10-D0DA-4F46-B2E2-E2DAC2999203}" destId="{06FFF616-7356-4356-9905-1C06931EAC1A}" srcOrd="1" destOrd="0" parTransId="{8A405249-B461-469D-8BA0-4802BFFFCBE9}" sibTransId="{C792F1C6-055D-418E-B40D-FE76B875B553}"/>
    <dgm:cxn modelId="{F52B5448-BC9D-4379-BE80-8EF6B1646547}" type="presOf" srcId="{030CCE10-D0DA-4F46-B2E2-E2DAC2999203}" destId="{6DC13EA1-C891-4FB4-AEE9-3F9FE1921CF4}" srcOrd="0" destOrd="0" presId="urn:microsoft.com/office/officeart/2018/5/layout/IconCircleLabelList"/>
    <dgm:cxn modelId="{18E025D3-3A6D-4737-B808-ABB9A61CCAB7}" type="presOf" srcId="{06FFF616-7356-4356-9905-1C06931EAC1A}" destId="{6E8AC33B-FDCB-458A-B604-8D0D8A0C442E}" srcOrd="0" destOrd="0" presId="urn:microsoft.com/office/officeart/2018/5/layout/IconCircleLabelList"/>
    <dgm:cxn modelId="{687DC726-B25A-4DCB-A742-CA0EE57578B0}" type="presParOf" srcId="{6DC13EA1-C891-4FB4-AEE9-3F9FE1921CF4}" destId="{221C37E9-2148-4BDC-B7D1-2873428F71E9}" srcOrd="0" destOrd="0" presId="urn:microsoft.com/office/officeart/2018/5/layout/IconCircleLabelList"/>
    <dgm:cxn modelId="{D63BDB11-EA6D-4249-A8AA-1C223CFBF1F8}" type="presParOf" srcId="{221C37E9-2148-4BDC-B7D1-2873428F71E9}" destId="{83428B0F-1ADD-44B3-92D5-1E5AC0BF09CA}" srcOrd="0" destOrd="0" presId="urn:microsoft.com/office/officeart/2018/5/layout/IconCircleLabelList"/>
    <dgm:cxn modelId="{D1947E85-152F-4B9E-97A5-D2D194CF5AC3}" type="presParOf" srcId="{221C37E9-2148-4BDC-B7D1-2873428F71E9}" destId="{E4EBF05A-49CE-4F4A-BB21-9B248B4D9B68}" srcOrd="1" destOrd="0" presId="urn:microsoft.com/office/officeart/2018/5/layout/IconCircleLabelList"/>
    <dgm:cxn modelId="{D102EED8-97DD-4095-A8A1-457E427FBF6A}" type="presParOf" srcId="{221C37E9-2148-4BDC-B7D1-2873428F71E9}" destId="{FBBCAF98-805A-4553-BF7C-1DC2802668CE}" srcOrd="2" destOrd="0" presId="urn:microsoft.com/office/officeart/2018/5/layout/IconCircleLabelList"/>
    <dgm:cxn modelId="{72BF6AE3-AA38-4284-ABC1-FD4904AF8A93}" type="presParOf" srcId="{221C37E9-2148-4BDC-B7D1-2873428F71E9}" destId="{E23720AE-E65B-46B5-9AD2-CCEE2BD198BA}" srcOrd="3" destOrd="0" presId="urn:microsoft.com/office/officeart/2018/5/layout/IconCircleLabelList"/>
    <dgm:cxn modelId="{7067B1DA-CBBA-48CC-B630-EE5FE8196C6B}" type="presParOf" srcId="{6DC13EA1-C891-4FB4-AEE9-3F9FE1921CF4}" destId="{7BF6170B-2D33-4140-9727-0F67CCA70D49}" srcOrd="1" destOrd="0" presId="urn:microsoft.com/office/officeart/2018/5/layout/IconCircleLabelList"/>
    <dgm:cxn modelId="{E79B7019-C95A-4A90-9261-1BB9AA1D7D2E}" type="presParOf" srcId="{6DC13EA1-C891-4FB4-AEE9-3F9FE1921CF4}" destId="{074F639B-0E58-4196-9E2A-08F6FAE16449}" srcOrd="2" destOrd="0" presId="urn:microsoft.com/office/officeart/2018/5/layout/IconCircleLabelList"/>
    <dgm:cxn modelId="{6B1B818C-838F-4E49-8429-7370E517CD00}" type="presParOf" srcId="{074F639B-0E58-4196-9E2A-08F6FAE16449}" destId="{30B9A8AC-435E-4AB2-B151-48FD002DEC16}" srcOrd="0" destOrd="0" presId="urn:microsoft.com/office/officeart/2018/5/layout/IconCircleLabelList"/>
    <dgm:cxn modelId="{9FC7E49C-7B53-4EE1-872C-26F3A6B93CAE}" type="presParOf" srcId="{074F639B-0E58-4196-9E2A-08F6FAE16449}" destId="{9AA02C18-F570-49CE-91AE-09416017911A}" srcOrd="1" destOrd="0" presId="urn:microsoft.com/office/officeart/2018/5/layout/IconCircleLabelList"/>
    <dgm:cxn modelId="{9E71ADF6-FCF4-4040-8AD7-BBF25AE921DB}" type="presParOf" srcId="{074F639B-0E58-4196-9E2A-08F6FAE16449}" destId="{A3B1D82A-E2D3-48CA-B13A-A5EDCCAE1560}" srcOrd="2" destOrd="0" presId="urn:microsoft.com/office/officeart/2018/5/layout/IconCircleLabelList"/>
    <dgm:cxn modelId="{51851301-EBCD-4D28-B87A-1563236BAE7F}" type="presParOf" srcId="{074F639B-0E58-4196-9E2A-08F6FAE16449}" destId="{6E8AC33B-FDCB-458A-B604-8D0D8A0C442E}" srcOrd="3" destOrd="0" presId="urn:microsoft.com/office/officeart/2018/5/layout/IconCircleLabelList"/>
    <dgm:cxn modelId="{E34A287B-6342-4E8F-A470-DE54E40FD4D1}" type="presParOf" srcId="{6DC13EA1-C891-4FB4-AEE9-3F9FE1921CF4}" destId="{2AB4DECF-0A70-46D9-899F-CFE4BBC6FCE9}" srcOrd="3" destOrd="0" presId="urn:microsoft.com/office/officeart/2018/5/layout/IconCircleLabelList"/>
    <dgm:cxn modelId="{B750CF4B-9D66-438B-970A-1731023014EE}" type="presParOf" srcId="{6DC13EA1-C891-4FB4-AEE9-3F9FE1921CF4}" destId="{6F9646E0-EDA5-4D57-A573-808CBB8900E1}" srcOrd="4" destOrd="0" presId="urn:microsoft.com/office/officeart/2018/5/layout/IconCircleLabelList"/>
    <dgm:cxn modelId="{A4364DFC-C6FE-4360-A902-27D27A66F699}" type="presParOf" srcId="{6F9646E0-EDA5-4D57-A573-808CBB8900E1}" destId="{A96024E2-0FAF-49A9-9759-85BD98973467}" srcOrd="0" destOrd="0" presId="urn:microsoft.com/office/officeart/2018/5/layout/IconCircleLabelList"/>
    <dgm:cxn modelId="{3C307684-6F28-4919-BBE1-D30145E9370C}" type="presParOf" srcId="{6F9646E0-EDA5-4D57-A573-808CBB8900E1}" destId="{65B523B0-0177-4377-A210-8913E52E6C7A}" srcOrd="1" destOrd="0" presId="urn:microsoft.com/office/officeart/2018/5/layout/IconCircleLabelList"/>
    <dgm:cxn modelId="{67D7915F-3CD0-4FA8-9C58-C0DB945FF75F}" type="presParOf" srcId="{6F9646E0-EDA5-4D57-A573-808CBB8900E1}" destId="{E2DC6C90-CD3C-457B-86AF-51DA64DACF60}" srcOrd="2" destOrd="0" presId="urn:microsoft.com/office/officeart/2018/5/layout/IconCircleLabelList"/>
    <dgm:cxn modelId="{EF6EBD8B-1B22-4BD7-8188-9B8AE9894DAA}" type="presParOf" srcId="{6F9646E0-EDA5-4D57-A573-808CBB8900E1}" destId="{2BD355D4-0E39-44ED-895F-313C55C4BCC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3E4EB7E-85F0-4BD4-B6B3-E411E88DE22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9BB38C1-906D-4377-AE62-0D2686BD926C}">
      <dgm:prSet/>
      <dgm:spPr/>
      <dgm:t>
        <a:bodyPr/>
        <a:lstStyle/>
        <a:p>
          <a:r>
            <a:rPr lang="en-US" b="1"/>
            <a:t>Independent Cohort Validation</a:t>
          </a:r>
          <a:endParaRPr lang="en-US"/>
        </a:p>
      </dgm:t>
    </dgm:pt>
    <dgm:pt modelId="{81C0E387-099D-4DF2-A589-C0F85B8FF158}" type="parTrans" cxnId="{7CF25F7E-D4A8-44F9-AE28-C2BCFE43F422}">
      <dgm:prSet/>
      <dgm:spPr/>
      <dgm:t>
        <a:bodyPr/>
        <a:lstStyle/>
        <a:p>
          <a:endParaRPr lang="en-US"/>
        </a:p>
      </dgm:t>
    </dgm:pt>
    <dgm:pt modelId="{1613F781-5E1F-48BC-A649-C60AC217F49F}" type="sibTrans" cxnId="{7CF25F7E-D4A8-44F9-AE28-C2BCFE43F422}">
      <dgm:prSet/>
      <dgm:spPr/>
      <dgm:t>
        <a:bodyPr/>
        <a:lstStyle/>
        <a:p>
          <a:endParaRPr lang="en-US"/>
        </a:p>
      </dgm:t>
    </dgm:pt>
    <dgm:pt modelId="{54D22755-F064-4F6B-8239-67781BFABA90}">
      <dgm:prSet/>
      <dgm:spPr/>
      <dgm:t>
        <a:bodyPr/>
        <a:lstStyle/>
        <a:p>
          <a:r>
            <a:rPr lang="en-US"/>
            <a:t>Tested on a completely </a:t>
          </a:r>
          <a:r>
            <a:rPr lang="en-US" b="1"/>
            <a:t>independent, blind validation cohort</a:t>
          </a:r>
          <a:r>
            <a:rPr lang="en-US"/>
            <a:t> (n = 82).</a:t>
          </a:r>
        </a:p>
      </dgm:t>
    </dgm:pt>
    <dgm:pt modelId="{BA402BCF-9BDB-4B2F-A267-516B4851C01F}" type="parTrans" cxnId="{BAA885F4-7A17-445B-8629-241081C80DF8}">
      <dgm:prSet/>
      <dgm:spPr/>
      <dgm:t>
        <a:bodyPr/>
        <a:lstStyle/>
        <a:p>
          <a:endParaRPr lang="en-US"/>
        </a:p>
      </dgm:t>
    </dgm:pt>
    <dgm:pt modelId="{60073DBF-DCF3-4B65-9634-40C9028D56AF}" type="sibTrans" cxnId="{BAA885F4-7A17-445B-8629-241081C80DF8}">
      <dgm:prSet/>
      <dgm:spPr/>
      <dgm:t>
        <a:bodyPr/>
        <a:lstStyle/>
        <a:p>
          <a:endParaRPr lang="en-US"/>
        </a:p>
      </dgm:t>
    </dgm:pt>
    <dgm:pt modelId="{AB9771AB-D28C-4CEE-AF8B-BFA3A5578020}">
      <dgm:prSet/>
      <dgm:spPr/>
      <dgm:t>
        <a:bodyPr/>
        <a:lstStyle/>
        <a:p>
          <a:r>
            <a:rPr lang="en-US"/>
            <a:t>Utilized a </a:t>
          </a:r>
          <a:r>
            <a:rPr lang="en-US" b="1"/>
            <a:t>newer generation device</a:t>
          </a:r>
          <a:r>
            <a:rPr lang="en-US"/>
            <a:t> (Fitbit Charge 6) to ensure cross-device generalizability and rule out overfitting.</a:t>
          </a:r>
        </a:p>
      </dgm:t>
    </dgm:pt>
    <dgm:pt modelId="{1AB5FAFD-BC05-48B4-AB2B-66AAB3D3660C}" type="parTrans" cxnId="{AC296C94-E71B-4D1C-A386-37D3F0680E91}">
      <dgm:prSet/>
      <dgm:spPr/>
      <dgm:t>
        <a:bodyPr/>
        <a:lstStyle/>
        <a:p>
          <a:endParaRPr lang="en-US"/>
        </a:p>
      </dgm:t>
    </dgm:pt>
    <dgm:pt modelId="{922D955F-C94A-417A-852A-982F8659C0F0}" type="sibTrans" cxnId="{AC296C94-E71B-4D1C-A386-37D3F0680E91}">
      <dgm:prSet/>
      <dgm:spPr/>
      <dgm:t>
        <a:bodyPr/>
        <a:lstStyle/>
        <a:p>
          <a:endParaRPr lang="en-US"/>
        </a:p>
      </dgm:t>
    </dgm:pt>
    <dgm:pt modelId="{EBD15A9B-2D24-47DF-93D3-B416A11FB271}" type="pres">
      <dgm:prSet presAssocID="{13E4EB7E-85F0-4BD4-B6B3-E411E88DE225}" presName="linear" presStyleCnt="0">
        <dgm:presLayoutVars>
          <dgm:animLvl val="lvl"/>
          <dgm:resizeHandles val="exact"/>
        </dgm:presLayoutVars>
      </dgm:prSet>
      <dgm:spPr/>
    </dgm:pt>
    <dgm:pt modelId="{439C2077-546A-4934-8C80-B6C06DFA04B0}" type="pres">
      <dgm:prSet presAssocID="{09BB38C1-906D-4377-AE62-0D2686BD926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84227FF-9C96-4D57-AA02-4AC1ADC903C6}" type="pres">
      <dgm:prSet presAssocID="{1613F781-5E1F-48BC-A649-C60AC217F49F}" presName="spacer" presStyleCnt="0"/>
      <dgm:spPr/>
    </dgm:pt>
    <dgm:pt modelId="{BD5C1C47-C799-4D20-BFB2-69CAFF6CEEDF}" type="pres">
      <dgm:prSet presAssocID="{54D22755-F064-4F6B-8239-67781BFABA9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559C362-CF74-41F2-A37D-29D6E3C3FBC7}" type="pres">
      <dgm:prSet presAssocID="{60073DBF-DCF3-4B65-9634-40C9028D56AF}" presName="spacer" presStyleCnt="0"/>
      <dgm:spPr/>
    </dgm:pt>
    <dgm:pt modelId="{FD0E1E8C-0EEA-497A-98AD-0C1FC192EB98}" type="pres">
      <dgm:prSet presAssocID="{AB9771AB-D28C-4CEE-AF8B-BFA3A557802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91F020F-3284-4390-BEFC-A8CB2B049481}" type="presOf" srcId="{13E4EB7E-85F0-4BD4-B6B3-E411E88DE225}" destId="{EBD15A9B-2D24-47DF-93D3-B416A11FB271}" srcOrd="0" destOrd="0" presId="urn:microsoft.com/office/officeart/2005/8/layout/vList2"/>
    <dgm:cxn modelId="{D73ED546-363A-4A38-958B-DB03E2014795}" type="presOf" srcId="{AB9771AB-D28C-4CEE-AF8B-BFA3A5578020}" destId="{FD0E1E8C-0EEA-497A-98AD-0C1FC192EB98}" srcOrd="0" destOrd="0" presId="urn:microsoft.com/office/officeart/2005/8/layout/vList2"/>
    <dgm:cxn modelId="{E79E6369-C1D9-4BC2-88AF-ABDB4B2240CB}" type="presOf" srcId="{09BB38C1-906D-4377-AE62-0D2686BD926C}" destId="{439C2077-546A-4934-8C80-B6C06DFA04B0}" srcOrd="0" destOrd="0" presId="urn:microsoft.com/office/officeart/2005/8/layout/vList2"/>
    <dgm:cxn modelId="{7CF25F7E-D4A8-44F9-AE28-C2BCFE43F422}" srcId="{13E4EB7E-85F0-4BD4-B6B3-E411E88DE225}" destId="{09BB38C1-906D-4377-AE62-0D2686BD926C}" srcOrd="0" destOrd="0" parTransId="{81C0E387-099D-4DF2-A589-C0F85B8FF158}" sibTransId="{1613F781-5E1F-48BC-A649-C60AC217F49F}"/>
    <dgm:cxn modelId="{AC296C94-E71B-4D1C-A386-37D3F0680E91}" srcId="{13E4EB7E-85F0-4BD4-B6B3-E411E88DE225}" destId="{AB9771AB-D28C-4CEE-AF8B-BFA3A5578020}" srcOrd="2" destOrd="0" parTransId="{1AB5FAFD-BC05-48B4-AB2B-66AAB3D3660C}" sibTransId="{922D955F-C94A-417A-852A-982F8659C0F0}"/>
    <dgm:cxn modelId="{A83114B5-5F1B-4CFC-8A28-CF030DA7E019}" type="presOf" srcId="{54D22755-F064-4F6B-8239-67781BFABA90}" destId="{BD5C1C47-C799-4D20-BFB2-69CAFF6CEEDF}" srcOrd="0" destOrd="0" presId="urn:microsoft.com/office/officeart/2005/8/layout/vList2"/>
    <dgm:cxn modelId="{BAA885F4-7A17-445B-8629-241081C80DF8}" srcId="{13E4EB7E-85F0-4BD4-B6B3-E411E88DE225}" destId="{54D22755-F064-4F6B-8239-67781BFABA90}" srcOrd="1" destOrd="0" parTransId="{BA402BCF-9BDB-4B2F-A267-516B4851C01F}" sibTransId="{60073DBF-DCF3-4B65-9634-40C9028D56AF}"/>
    <dgm:cxn modelId="{27B8B6CF-E525-4DB2-8F8B-2115D8FED416}" type="presParOf" srcId="{EBD15A9B-2D24-47DF-93D3-B416A11FB271}" destId="{439C2077-546A-4934-8C80-B6C06DFA04B0}" srcOrd="0" destOrd="0" presId="urn:microsoft.com/office/officeart/2005/8/layout/vList2"/>
    <dgm:cxn modelId="{0B63AEC0-42C3-4E26-9BA9-448F70BBDFEF}" type="presParOf" srcId="{EBD15A9B-2D24-47DF-93D3-B416A11FB271}" destId="{784227FF-9C96-4D57-AA02-4AC1ADC903C6}" srcOrd="1" destOrd="0" presId="urn:microsoft.com/office/officeart/2005/8/layout/vList2"/>
    <dgm:cxn modelId="{CE7C2CFA-595D-4078-8637-65D5DEF10AA5}" type="presParOf" srcId="{EBD15A9B-2D24-47DF-93D3-B416A11FB271}" destId="{BD5C1C47-C799-4D20-BFB2-69CAFF6CEEDF}" srcOrd="2" destOrd="0" presId="urn:microsoft.com/office/officeart/2005/8/layout/vList2"/>
    <dgm:cxn modelId="{9F2BF77B-CAF9-4DF9-A846-5236FDEBB5DA}" type="presParOf" srcId="{EBD15A9B-2D24-47DF-93D3-B416A11FB271}" destId="{8559C362-CF74-41F2-A37D-29D6E3C3FBC7}" srcOrd="3" destOrd="0" presId="urn:microsoft.com/office/officeart/2005/8/layout/vList2"/>
    <dgm:cxn modelId="{81A3A32F-6FC6-4A2D-AC3D-DC2D1C308A8C}" type="presParOf" srcId="{EBD15A9B-2D24-47DF-93D3-B416A11FB271}" destId="{FD0E1E8C-0EEA-497A-98AD-0C1FC192EB9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39A424A-C6C4-41B2-B25C-57BBBAF9D60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D13D11-9057-4657-B06E-1033C0C57416}">
      <dgm:prSet/>
      <dgm:spPr/>
      <dgm:t>
        <a:bodyPr/>
        <a:lstStyle/>
        <a:p>
          <a:r>
            <a:rPr lang="en-US" b="1"/>
            <a:t>Performance Jump (Ablation Study Results)</a:t>
          </a:r>
          <a:endParaRPr lang="en-US"/>
        </a:p>
      </dgm:t>
    </dgm:pt>
    <dgm:pt modelId="{1C678D04-0F86-4350-BD8F-C5CD71926191}" type="parTrans" cxnId="{5D6677BB-0DC5-4E77-8FEE-23556D25BC96}">
      <dgm:prSet/>
      <dgm:spPr/>
      <dgm:t>
        <a:bodyPr/>
        <a:lstStyle/>
        <a:p>
          <a:endParaRPr lang="en-US"/>
        </a:p>
      </dgm:t>
    </dgm:pt>
    <dgm:pt modelId="{CD608E32-3FB6-4998-A14C-55305B0783C0}" type="sibTrans" cxnId="{5D6677BB-0DC5-4E77-8FEE-23556D25BC96}">
      <dgm:prSet/>
      <dgm:spPr/>
      <dgm:t>
        <a:bodyPr/>
        <a:lstStyle/>
        <a:p>
          <a:endParaRPr lang="en-US"/>
        </a:p>
      </dgm:t>
    </dgm:pt>
    <dgm:pt modelId="{5DD61100-25DC-47AF-9E5E-42F1956CE382}">
      <dgm:prSet/>
      <dgm:spPr/>
      <dgm:t>
        <a:bodyPr/>
        <a:lstStyle/>
        <a:p>
          <a:r>
            <a:rPr lang="en-US" b="1"/>
            <a:t>Baseline Model</a:t>
          </a:r>
          <a:r>
            <a:rPr lang="en-US"/>
            <a:t> </a:t>
          </a:r>
          <a:r>
            <a:rPr lang="en-US" i="1"/>
            <a:t>(Demographics + Labs Only)</a:t>
          </a:r>
          <a:r>
            <a:rPr lang="en-US"/>
            <a:t>: </a:t>
          </a:r>
          <a:r>
            <a:rPr lang="en-US" b="1"/>
            <a:t>AUROC = 0.78</a:t>
          </a:r>
          <a:endParaRPr lang="en-US"/>
        </a:p>
      </dgm:t>
    </dgm:pt>
    <dgm:pt modelId="{B8FD34AD-CDB1-478E-BAFE-D1A950542189}" type="parTrans" cxnId="{6BCC7052-A49F-4B92-83A9-049BB3CC92DA}">
      <dgm:prSet/>
      <dgm:spPr/>
      <dgm:t>
        <a:bodyPr/>
        <a:lstStyle/>
        <a:p>
          <a:endParaRPr lang="en-US"/>
        </a:p>
      </dgm:t>
    </dgm:pt>
    <dgm:pt modelId="{E2574E77-3DA0-4520-83CD-F03ADA3C6308}" type="sibTrans" cxnId="{6BCC7052-A49F-4B92-83A9-049BB3CC92DA}">
      <dgm:prSet/>
      <dgm:spPr/>
      <dgm:t>
        <a:bodyPr/>
        <a:lstStyle/>
        <a:p>
          <a:endParaRPr lang="en-US"/>
        </a:p>
      </dgm:t>
    </dgm:pt>
    <dgm:pt modelId="{E25EDCFA-C0BA-4B4B-AA79-695337940E90}">
      <dgm:prSet/>
      <dgm:spPr/>
      <dgm:t>
        <a:bodyPr/>
        <a:lstStyle/>
        <a:p>
          <a:r>
            <a:rPr lang="en-US" b="1"/>
            <a:t>Proposed Multimodal Framework</a:t>
          </a:r>
          <a:r>
            <a:rPr lang="en-US"/>
            <a:t> </a:t>
          </a:r>
          <a:r>
            <a:rPr lang="en-US" i="1"/>
            <a:t>(Labs + Demographics + WFM)</a:t>
          </a:r>
          <a:r>
            <a:rPr lang="en-US"/>
            <a:t>: </a:t>
          </a:r>
          <a:r>
            <a:rPr lang="en-US" b="1"/>
            <a:t>AUROC = 0.87</a:t>
          </a:r>
          <a:r>
            <a:rPr lang="en-US"/>
            <a:t> ( Significant clinical improvement).</a:t>
          </a:r>
        </a:p>
      </dgm:t>
    </dgm:pt>
    <dgm:pt modelId="{7598A298-1B30-4BC8-82DF-B2F91373C213}" type="parTrans" cxnId="{3B4B37EC-A52F-40EF-86CA-60B93AC4A8C5}">
      <dgm:prSet/>
      <dgm:spPr/>
      <dgm:t>
        <a:bodyPr/>
        <a:lstStyle/>
        <a:p>
          <a:endParaRPr lang="en-US"/>
        </a:p>
      </dgm:t>
    </dgm:pt>
    <dgm:pt modelId="{3A1C25A2-E991-4E08-9326-D7A741B9D954}" type="sibTrans" cxnId="{3B4B37EC-A52F-40EF-86CA-60B93AC4A8C5}">
      <dgm:prSet/>
      <dgm:spPr/>
      <dgm:t>
        <a:bodyPr/>
        <a:lstStyle/>
        <a:p>
          <a:endParaRPr lang="en-US"/>
        </a:p>
      </dgm:t>
    </dgm:pt>
    <dgm:pt modelId="{47C2CF23-D9D3-422A-A852-FAF61E0D59CD}" type="pres">
      <dgm:prSet presAssocID="{B39A424A-C6C4-41B2-B25C-57BBBAF9D604}" presName="linear" presStyleCnt="0">
        <dgm:presLayoutVars>
          <dgm:animLvl val="lvl"/>
          <dgm:resizeHandles val="exact"/>
        </dgm:presLayoutVars>
      </dgm:prSet>
      <dgm:spPr/>
    </dgm:pt>
    <dgm:pt modelId="{785320E0-35E1-4178-8650-B9D6B2BF4D17}" type="pres">
      <dgm:prSet presAssocID="{04D13D11-9057-4657-B06E-1033C0C574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45B8A1D-0228-4CC8-B70A-68FD727CDA41}" type="pres">
      <dgm:prSet presAssocID="{CD608E32-3FB6-4998-A14C-55305B0783C0}" presName="spacer" presStyleCnt="0"/>
      <dgm:spPr/>
    </dgm:pt>
    <dgm:pt modelId="{19C3C513-E461-4B13-BB78-F5CB9C1B0564}" type="pres">
      <dgm:prSet presAssocID="{5DD61100-25DC-47AF-9E5E-42F1956CE38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EB07E01-0988-4307-9AA9-3DD0F5720B95}" type="pres">
      <dgm:prSet presAssocID="{E2574E77-3DA0-4520-83CD-F03ADA3C6308}" presName="spacer" presStyleCnt="0"/>
      <dgm:spPr/>
    </dgm:pt>
    <dgm:pt modelId="{4EAF5085-9733-47C0-923C-8270D2E476E8}" type="pres">
      <dgm:prSet presAssocID="{E25EDCFA-C0BA-4B4B-AA79-695337940E9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DF5D017-3607-49B4-B5D7-669D820F6D39}" type="presOf" srcId="{E25EDCFA-C0BA-4B4B-AA79-695337940E90}" destId="{4EAF5085-9733-47C0-923C-8270D2E476E8}" srcOrd="0" destOrd="0" presId="urn:microsoft.com/office/officeart/2005/8/layout/vList2"/>
    <dgm:cxn modelId="{B35F983D-DB96-4458-82C6-855CEE11F12B}" type="presOf" srcId="{B39A424A-C6C4-41B2-B25C-57BBBAF9D604}" destId="{47C2CF23-D9D3-422A-A852-FAF61E0D59CD}" srcOrd="0" destOrd="0" presId="urn:microsoft.com/office/officeart/2005/8/layout/vList2"/>
    <dgm:cxn modelId="{D188B75C-3180-471D-9E3B-FF29F1289D42}" type="presOf" srcId="{5DD61100-25DC-47AF-9E5E-42F1956CE382}" destId="{19C3C513-E461-4B13-BB78-F5CB9C1B0564}" srcOrd="0" destOrd="0" presId="urn:microsoft.com/office/officeart/2005/8/layout/vList2"/>
    <dgm:cxn modelId="{6BCC7052-A49F-4B92-83A9-049BB3CC92DA}" srcId="{B39A424A-C6C4-41B2-B25C-57BBBAF9D604}" destId="{5DD61100-25DC-47AF-9E5E-42F1956CE382}" srcOrd="1" destOrd="0" parTransId="{B8FD34AD-CDB1-478E-BAFE-D1A950542189}" sibTransId="{E2574E77-3DA0-4520-83CD-F03ADA3C6308}"/>
    <dgm:cxn modelId="{5D6677BB-0DC5-4E77-8FEE-23556D25BC96}" srcId="{B39A424A-C6C4-41B2-B25C-57BBBAF9D604}" destId="{04D13D11-9057-4657-B06E-1033C0C57416}" srcOrd="0" destOrd="0" parTransId="{1C678D04-0F86-4350-BD8F-C5CD71926191}" sibTransId="{CD608E32-3FB6-4998-A14C-55305B0783C0}"/>
    <dgm:cxn modelId="{0E86DFD4-EF89-4390-93F2-0DB258A2EE8B}" type="presOf" srcId="{04D13D11-9057-4657-B06E-1033C0C57416}" destId="{785320E0-35E1-4178-8650-B9D6B2BF4D17}" srcOrd="0" destOrd="0" presId="urn:microsoft.com/office/officeart/2005/8/layout/vList2"/>
    <dgm:cxn modelId="{3B4B37EC-A52F-40EF-86CA-60B93AC4A8C5}" srcId="{B39A424A-C6C4-41B2-B25C-57BBBAF9D604}" destId="{E25EDCFA-C0BA-4B4B-AA79-695337940E90}" srcOrd="2" destOrd="0" parTransId="{7598A298-1B30-4BC8-82DF-B2F91373C213}" sibTransId="{3A1C25A2-E991-4E08-9326-D7A741B9D954}"/>
    <dgm:cxn modelId="{30449B59-0959-49BB-A77A-4FA15A5DC75A}" type="presParOf" srcId="{47C2CF23-D9D3-422A-A852-FAF61E0D59CD}" destId="{785320E0-35E1-4178-8650-B9D6B2BF4D17}" srcOrd="0" destOrd="0" presId="urn:microsoft.com/office/officeart/2005/8/layout/vList2"/>
    <dgm:cxn modelId="{9577C164-CF40-40AA-89A8-C2D783840CEE}" type="presParOf" srcId="{47C2CF23-D9D3-422A-A852-FAF61E0D59CD}" destId="{845B8A1D-0228-4CC8-B70A-68FD727CDA41}" srcOrd="1" destOrd="0" presId="urn:microsoft.com/office/officeart/2005/8/layout/vList2"/>
    <dgm:cxn modelId="{6E9A7AE7-A536-4ABF-A8C6-637639FC20FC}" type="presParOf" srcId="{47C2CF23-D9D3-422A-A852-FAF61E0D59CD}" destId="{19C3C513-E461-4B13-BB78-F5CB9C1B0564}" srcOrd="2" destOrd="0" presId="urn:microsoft.com/office/officeart/2005/8/layout/vList2"/>
    <dgm:cxn modelId="{CBED587C-56A1-4905-9482-1321F6AA2248}" type="presParOf" srcId="{47C2CF23-D9D3-422A-A852-FAF61E0D59CD}" destId="{1EB07E01-0988-4307-9AA9-3DD0F5720B95}" srcOrd="3" destOrd="0" presId="urn:microsoft.com/office/officeart/2005/8/layout/vList2"/>
    <dgm:cxn modelId="{9A55BEFE-1B53-4A0B-A10A-3681424F1856}" type="presParOf" srcId="{47C2CF23-D9D3-422A-A852-FAF61E0D59CD}" destId="{4EAF5085-9733-47C0-923C-8270D2E476E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1C0891-CE17-427A-8277-769F948970F2}">
      <dsp:nvSpPr>
        <dsp:cNvPr id="0" name=""/>
        <dsp:cNvSpPr/>
      </dsp:nvSpPr>
      <dsp:spPr>
        <a:xfrm>
          <a:off x="718664" y="2022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0205D1-0323-4937-9468-77CF0D433274}">
      <dsp:nvSpPr>
        <dsp:cNvPr id="0" name=""/>
        <dsp:cNvSpPr/>
      </dsp:nvSpPr>
      <dsp:spPr>
        <a:xfrm>
          <a:off x="1135476" y="6190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4203C-8E3C-4D84-ABC5-ED0F7DF75013}">
      <dsp:nvSpPr>
        <dsp:cNvPr id="0" name=""/>
        <dsp:cNvSpPr/>
      </dsp:nvSpPr>
      <dsp:spPr>
        <a:xfrm>
          <a:off x="93445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kern="1200"/>
            <a:t>1. Autonomic Nervous System (ANS) Indicators</a:t>
          </a:r>
          <a:endParaRPr lang="en-US" sz="1300" kern="1200"/>
        </a:p>
      </dsp:txBody>
      <dsp:txXfrm>
        <a:off x="93445" y="2767202"/>
        <a:ext cx="3206250" cy="720000"/>
      </dsp:txXfrm>
    </dsp:sp>
    <dsp:sp modelId="{D3DDEA5F-DC03-48BA-9AC1-71C40EBFFAFB}">
      <dsp:nvSpPr>
        <dsp:cNvPr id="0" name=""/>
        <dsp:cNvSpPr/>
      </dsp:nvSpPr>
      <dsp:spPr>
        <a:xfrm>
          <a:off x="4486008" y="2022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7F11B5-5CEF-491F-B867-4E1B292BC81E}">
      <dsp:nvSpPr>
        <dsp:cNvPr id="0" name=""/>
        <dsp:cNvSpPr/>
      </dsp:nvSpPr>
      <dsp:spPr>
        <a:xfrm>
          <a:off x="4902820" y="6190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9F3DEE-A000-4C80-8E39-EA07AC3B01AA}">
      <dsp:nvSpPr>
        <dsp:cNvPr id="0" name=""/>
        <dsp:cNvSpPr/>
      </dsp:nvSpPr>
      <dsp:spPr>
        <a:xfrm>
          <a:off x="3860789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kern="1200"/>
            <a:t>Continuous Resting Heart Rate (RHR):</a:t>
          </a:r>
          <a:r>
            <a:rPr lang="en-US" sz="1300" kern="1200"/>
            <a:t> Monitors baseline cardiac activity.</a:t>
          </a:r>
        </a:p>
      </dsp:txBody>
      <dsp:txXfrm>
        <a:off x="3860789" y="2767202"/>
        <a:ext cx="3206250" cy="720000"/>
      </dsp:txXfrm>
    </dsp:sp>
    <dsp:sp modelId="{88B9A3DA-1F42-4C12-A33A-360F67991C0A}">
      <dsp:nvSpPr>
        <dsp:cNvPr id="0" name=""/>
        <dsp:cNvSpPr/>
      </dsp:nvSpPr>
      <dsp:spPr>
        <a:xfrm>
          <a:off x="8253352" y="2022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953FDC-99D1-46C7-BB39-3C21FCD144CE}">
      <dsp:nvSpPr>
        <dsp:cNvPr id="0" name=""/>
        <dsp:cNvSpPr/>
      </dsp:nvSpPr>
      <dsp:spPr>
        <a:xfrm>
          <a:off x="8670164" y="6190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5CAF21-26BA-4763-94DF-E730458B0914}">
      <dsp:nvSpPr>
        <dsp:cNvPr id="0" name=""/>
        <dsp:cNvSpPr/>
      </dsp:nvSpPr>
      <dsp:spPr>
        <a:xfrm>
          <a:off x="7628133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kern="1200"/>
            <a:t>Heart Rate Variability (HRV):</a:t>
          </a:r>
          <a:r>
            <a:rPr lang="en-US" sz="1300" kern="1200"/>
            <a:t> Captures autonomic nervous system stress and recovery responses.</a:t>
          </a:r>
        </a:p>
      </dsp:txBody>
      <dsp:txXfrm>
        <a:off x="7628133" y="27672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F37ED8-B048-4C1F-8B7C-DAB8D10DE607}">
      <dsp:nvSpPr>
        <dsp:cNvPr id="0" name=""/>
        <dsp:cNvSpPr/>
      </dsp:nvSpPr>
      <dsp:spPr>
        <a:xfrm>
          <a:off x="282221" y="159118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5CD192-3405-4FC3-A9A1-0F609C9F777B}">
      <dsp:nvSpPr>
        <dsp:cNvPr id="0" name=""/>
        <dsp:cNvSpPr/>
      </dsp:nvSpPr>
      <dsp:spPr>
        <a:xfrm>
          <a:off x="570337" y="447234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3C63B-2B1B-4A26-8F3E-14368C4380D4}">
      <dsp:nvSpPr>
        <dsp:cNvPr id="0" name=""/>
        <dsp:cNvSpPr/>
      </dsp:nvSpPr>
      <dsp:spPr>
        <a:xfrm>
          <a:off x="1948202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2. Physical Activity Metrics</a:t>
          </a:r>
          <a:endParaRPr lang="en-US" sz="2400" kern="1200"/>
        </a:p>
      </dsp:txBody>
      <dsp:txXfrm>
        <a:off x="1948202" y="159118"/>
        <a:ext cx="3233964" cy="1371985"/>
      </dsp:txXfrm>
    </dsp:sp>
    <dsp:sp modelId="{90CDA4EA-7041-4D5F-83D8-8B881CCD2760}">
      <dsp:nvSpPr>
        <dsp:cNvPr id="0" name=""/>
        <dsp:cNvSpPr/>
      </dsp:nvSpPr>
      <dsp:spPr>
        <a:xfrm>
          <a:off x="5745661" y="159118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F4AFA-B1CB-45AD-8F90-F150232BCF2B}">
      <dsp:nvSpPr>
        <dsp:cNvPr id="0" name=""/>
        <dsp:cNvSpPr/>
      </dsp:nvSpPr>
      <dsp:spPr>
        <a:xfrm>
          <a:off x="6033778" y="447234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4AAD1-56A2-4E88-ADBE-F056EABE31B8}">
      <dsp:nvSpPr>
        <dsp:cNvPr id="0" name=""/>
        <dsp:cNvSpPr/>
      </dsp:nvSpPr>
      <dsp:spPr>
        <a:xfrm>
          <a:off x="7411643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Daily Step Counts:</a:t>
          </a:r>
          <a:r>
            <a:rPr lang="en-US" sz="2400" kern="1200"/>
            <a:t> Tracks total daily movement.</a:t>
          </a:r>
        </a:p>
      </dsp:txBody>
      <dsp:txXfrm>
        <a:off x="7411643" y="159118"/>
        <a:ext cx="3233964" cy="1371985"/>
      </dsp:txXfrm>
    </dsp:sp>
    <dsp:sp modelId="{FA83E452-CBA3-4C35-B151-7496DD2E8D45}">
      <dsp:nvSpPr>
        <dsp:cNvPr id="0" name=""/>
        <dsp:cNvSpPr/>
      </dsp:nvSpPr>
      <dsp:spPr>
        <a:xfrm>
          <a:off x="282221" y="2158301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F4DDD5-7603-48A5-A246-5C6C3409281A}">
      <dsp:nvSpPr>
        <dsp:cNvPr id="0" name=""/>
        <dsp:cNvSpPr/>
      </dsp:nvSpPr>
      <dsp:spPr>
        <a:xfrm>
          <a:off x="570337" y="2446418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945DD-8789-4C8D-8DD7-BBB599675441}">
      <dsp:nvSpPr>
        <dsp:cNvPr id="0" name=""/>
        <dsp:cNvSpPr/>
      </dsp:nvSpPr>
      <dsp:spPr>
        <a:xfrm>
          <a:off x="1948202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Movement Intensity:</a:t>
          </a:r>
          <a:r>
            <a:rPr lang="en-US" sz="2400" kern="1200"/>
            <a:t> Classifies activity levels into light, moderate, or vigorous.</a:t>
          </a:r>
        </a:p>
      </dsp:txBody>
      <dsp:txXfrm>
        <a:off x="1948202" y="2158301"/>
        <a:ext cx="3233964" cy="1371985"/>
      </dsp:txXfrm>
    </dsp:sp>
    <dsp:sp modelId="{A9FFB751-849B-408E-8147-497B5727350C}">
      <dsp:nvSpPr>
        <dsp:cNvPr id="0" name=""/>
        <dsp:cNvSpPr/>
      </dsp:nvSpPr>
      <dsp:spPr>
        <a:xfrm>
          <a:off x="5745661" y="2158301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88595A-CD49-4840-9BD6-B66D63A73BD8}">
      <dsp:nvSpPr>
        <dsp:cNvPr id="0" name=""/>
        <dsp:cNvSpPr/>
      </dsp:nvSpPr>
      <dsp:spPr>
        <a:xfrm>
          <a:off x="6033778" y="2446418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3D5DFE-EAF4-4D68-A982-E3155C3632D8}">
      <dsp:nvSpPr>
        <dsp:cNvPr id="0" name=""/>
        <dsp:cNvSpPr/>
      </dsp:nvSpPr>
      <dsp:spPr>
        <a:xfrm>
          <a:off x="7411643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Sedentary Bouts:</a:t>
          </a:r>
          <a:r>
            <a:rPr lang="en-US" sz="2400" kern="1200"/>
            <a:t> Measures periods of prolonged inactivity.</a:t>
          </a:r>
        </a:p>
      </dsp:txBody>
      <dsp:txXfrm>
        <a:off x="7411643" y="2158301"/>
        <a:ext cx="3233964" cy="13719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1F6F58-19CE-4592-BE36-F88E457FCA0B}">
      <dsp:nvSpPr>
        <dsp:cNvPr id="0" name=""/>
        <dsp:cNvSpPr/>
      </dsp:nvSpPr>
      <dsp:spPr>
        <a:xfrm>
          <a:off x="205509" y="1640565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4C9D4B-24F2-4E54-8369-B3F184F7631D}">
      <dsp:nvSpPr>
        <dsp:cNvPr id="0" name=""/>
        <dsp:cNvSpPr/>
      </dsp:nvSpPr>
      <dsp:spPr>
        <a:xfrm>
          <a:off x="396960" y="183201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D07CA6-A4C2-41C9-93F6-2BF9BF6D1212}">
      <dsp:nvSpPr>
        <dsp:cNvPr id="0" name=""/>
        <dsp:cNvSpPr/>
      </dsp:nvSpPr>
      <dsp:spPr>
        <a:xfrm>
          <a:off x="1312541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Phase 1: Time-Series Preprocessing</a:t>
          </a:r>
          <a:endParaRPr lang="en-US" sz="1600" kern="1200"/>
        </a:p>
      </dsp:txBody>
      <dsp:txXfrm>
        <a:off x="1312541" y="1640565"/>
        <a:ext cx="2148945" cy="911674"/>
      </dsp:txXfrm>
    </dsp:sp>
    <dsp:sp modelId="{0B303BF1-80FE-463D-B497-89D7066403BB}">
      <dsp:nvSpPr>
        <dsp:cNvPr id="0" name=""/>
        <dsp:cNvSpPr/>
      </dsp:nvSpPr>
      <dsp:spPr>
        <a:xfrm>
          <a:off x="3835925" y="1640565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00C138-E05A-4164-A7B5-DA73E819DCE4}">
      <dsp:nvSpPr>
        <dsp:cNvPr id="0" name=""/>
        <dsp:cNvSpPr/>
      </dsp:nvSpPr>
      <dsp:spPr>
        <a:xfrm>
          <a:off x="4027376" y="183201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2FD131-3AB1-49CA-911E-4DB6D8E44FC7}">
      <dsp:nvSpPr>
        <dsp:cNvPr id="0" name=""/>
        <dsp:cNvSpPr/>
      </dsp:nvSpPr>
      <dsp:spPr>
        <a:xfrm>
          <a:off x="4942957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Processes millions of hours of high-frequency raw sensor data.</a:t>
          </a:r>
        </a:p>
      </dsp:txBody>
      <dsp:txXfrm>
        <a:off x="4942957" y="1640565"/>
        <a:ext cx="2148945" cy="911674"/>
      </dsp:txXfrm>
    </dsp:sp>
    <dsp:sp modelId="{75B81DE4-3F79-4255-98B3-66EF1182AB45}">
      <dsp:nvSpPr>
        <dsp:cNvPr id="0" name=""/>
        <dsp:cNvSpPr/>
      </dsp:nvSpPr>
      <dsp:spPr>
        <a:xfrm>
          <a:off x="7466341" y="1640565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9A28F8-4218-4F36-BA31-EAD1B6A2AA74}">
      <dsp:nvSpPr>
        <dsp:cNvPr id="0" name=""/>
        <dsp:cNvSpPr/>
      </dsp:nvSpPr>
      <dsp:spPr>
        <a:xfrm>
          <a:off x="7657792" y="183201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34EE6-840C-4158-B9E3-43D61D177C40}">
      <dsp:nvSpPr>
        <dsp:cNvPr id="0" name=""/>
        <dsp:cNvSpPr/>
      </dsp:nvSpPr>
      <dsp:spPr>
        <a:xfrm>
          <a:off x="8573374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Cleans the data through artifact removal and aligns it daily for consistency.</a:t>
          </a:r>
        </a:p>
      </dsp:txBody>
      <dsp:txXfrm>
        <a:off x="8573374" y="1640565"/>
        <a:ext cx="2148945" cy="9116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DF829C-0050-4275-BE64-FE25D4F016DD}">
      <dsp:nvSpPr>
        <dsp:cNvPr id="0" name=""/>
        <dsp:cNvSpPr/>
      </dsp:nvSpPr>
      <dsp:spPr>
        <a:xfrm>
          <a:off x="205509" y="1640565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4BC880-E376-4C6E-AAD7-FC560BB2E0A0}">
      <dsp:nvSpPr>
        <dsp:cNvPr id="0" name=""/>
        <dsp:cNvSpPr/>
      </dsp:nvSpPr>
      <dsp:spPr>
        <a:xfrm>
          <a:off x="396960" y="183201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6830C-B5FE-43B1-8073-659DA73D94EE}">
      <dsp:nvSpPr>
        <dsp:cNvPr id="0" name=""/>
        <dsp:cNvSpPr/>
      </dsp:nvSpPr>
      <dsp:spPr>
        <a:xfrm>
          <a:off x="1312541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Phase 2: Wearable Foundation Model (WFM)</a:t>
          </a:r>
          <a:endParaRPr lang="en-US" sz="1500" kern="1200"/>
        </a:p>
      </dsp:txBody>
      <dsp:txXfrm>
        <a:off x="1312541" y="1640565"/>
        <a:ext cx="2148945" cy="911674"/>
      </dsp:txXfrm>
    </dsp:sp>
    <dsp:sp modelId="{0D70D23E-F7CE-4ECF-AB2F-0BF60F81C25F}">
      <dsp:nvSpPr>
        <dsp:cNvPr id="0" name=""/>
        <dsp:cNvSpPr/>
      </dsp:nvSpPr>
      <dsp:spPr>
        <a:xfrm>
          <a:off x="3835925" y="1640565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61D27-3F63-4DED-AA74-9E5A494F86A6}">
      <dsp:nvSpPr>
        <dsp:cNvPr id="0" name=""/>
        <dsp:cNvSpPr/>
      </dsp:nvSpPr>
      <dsp:spPr>
        <a:xfrm>
          <a:off x="4027376" y="183201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56F24-878E-4E0A-9A4E-B444A2186291}">
      <dsp:nvSpPr>
        <dsp:cNvPr id="0" name=""/>
        <dsp:cNvSpPr/>
      </dsp:nvSpPr>
      <dsp:spPr>
        <a:xfrm>
          <a:off x="4942957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deep neural network pre-trained on </a:t>
          </a:r>
          <a:r>
            <a:rPr lang="en-US" sz="1500" b="1" kern="1200"/>
            <a:t>&gt;40 million hours</a:t>
          </a:r>
          <a:r>
            <a:rPr lang="en-US" sz="1500" kern="1200"/>
            <a:t> of diverse sensor data.</a:t>
          </a:r>
        </a:p>
      </dsp:txBody>
      <dsp:txXfrm>
        <a:off x="4942957" y="1640565"/>
        <a:ext cx="2148945" cy="911674"/>
      </dsp:txXfrm>
    </dsp:sp>
    <dsp:sp modelId="{F7B3A840-F3B5-408B-B699-B966843A0058}">
      <dsp:nvSpPr>
        <dsp:cNvPr id="0" name=""/>
        <dsp:cNvSpPr/>
      </dsp:nvSpPr>
      <dsp:spPr>
        <a:xfrm>
          <a:off x="7466341" y="1640565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6CD82-436C-4390-A90E-CA38986901EE}">
      <dsp:nvSpPr>
        <dsp:cNvPr id="0" name=""/>
        <dsp:cNvSpPr/>
      </dsp:nvSpPr>
      <dsp:spPr>
        <a:xfrm>
          <a:off x="7657792" y="183201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6FF258-6CC8-4F5C-A1B7-4607CC01C2B3}">
      <dsp:nvSpPr>
        <dsp:cNvPr id="0" name=""/>
        <dsp:cNvSpPr/>
      </dsp:nvSpPr>
      <dsp:spPr>
        <a:xfrm>
          <a:off x="8573374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Extracts high-dimensional physiological embeddings (capturing complex body signals).</a:t>
          </a:r>
        </a:p>
      </dsp:txBody>
      <dsp:txXfrm>
        <a:off x="8573374" y="1640565"/>
        <a:ext cx="2148945" cy="9116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0E3AD1-2763-46D1-8E86-E28A3C112066}">
      <dsp:nvSpPr>
        <dsp:cNvPr id="0" name=""/>
        <dsp:cNvSpPr/>
      </dsp:nvSpPr>
      <dsp:spPr>
        <a:xfrm>
          <a:off x="205509" y="1640565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7B220C-23F4-49B9-A9B8-F48D9EF1FE10}">
      <dsp:nvSpPr>
        <dsp:cNvPr id="0" name=""/>
        <dsp:cNvSpPr/>
      </dsp:nvSpPr>
      <dsp:spPr>
        <a:xfrm>
          <a:off x="396960" y="183201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D0BF55-E8BC-4A09-9075-A9BFA239BAA9}">
      <dsp:nvSpPr>
        <dsp:cNvPr id="0" name=""/>
        <dsp:cNvSpPr/>
      </dsp:nvSpPr>
      <dsp:spPr>
        <a:xfrm>
          <a:off x="1312541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Phase 3: Dimensionality Reduction (PCA)</a:t>
          </a:r>
          <a:endParaRPr lang="en-US" sz="1400" kern="1200"/>
        </a:p>
      </dsp:txBody>
      <dsp:txXfrm>
        <a:off x="1312541" y="1640565"/>
        <a:ext cx="2148945" cy="911674"/>
      </dsp:txXfrm>
    </dsp:sp>
    <dsp:sp modelId="{825BB003-48EE-49DB-8978-5F82BDF7A47A}">
      <dsp:nvSpPr>
        <dsp:cNvPr id="0" name=""/>
        <dsp:cNvSpPr/>
      </dsp:nvSpPr>
      <dsp:spPr>
        <a:xfrm>
          <a:off x="3835925" y="1640565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C4F431-C74C-4CD7-ABF9-7C6D3F182D7D}">
      <dsp:nvSpPr>
        <dsp:cNvPr id="0" name=""/>
        <dsp:cNvSpPr/>
      </dsp:nvSpPr>
      <dsp:spPr>
        <a:xfrm>
          <a:off x="4027376" y="183201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1E881B-B1B0-4B1E-AE16-EBF9426AEEB8}">
      <dsp:nvSpPr>
        <dsp:cNvPr id="0" name=""/>
        <dsp:cNvSpPr/>
      </dsp:nvSpPr>
      <dsp:spPr>
        <a:xfrm>
          <a:off x="4942957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Uses Principal Component Analysis (PCA) to compress sparse, high-dimensional WFM embeddings.</a:t>
          </a:r>
        </a:p>
      </dsp:txBody>
      <dsp:txXfrm>
        <a:off x="4942957" y="1640565"/>
        <a:ext cx="2148945" cy="911674"/>
      </dsp:txXfrm>
    </dsp:sp>
    <dsp:sp modelId="{C6EAFF5C-846A-4793-BA1C-47EE24105891}">
      <dsp:nvSpPr>
        <dsp:cNvPr id="0" name=""/>
        <dsp:cNvSpPr/>
      </dsp:nvSpPr>
      <dsp:spPr>
        <a:xfrm>
          <a:off x="7466341" y="1640565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ABB606-3838-4170-AFFC-C38BCEAF458A}">
      <dsp:nvSpPr>
        <dsp:cNvPr id="0" name=""/>
        <dsp:cNvSpPr/>
      </dsp:nvSpPr>
      <dsp:spPr>
        <a:xfrm>
          <a:off x="7657792" y="1832017"/>
          <a:ext cx="528770" cy="5287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9853E1-C802-4310-90D8-6AC400EDF525}">
      <dsp:nvSpPr>
        <dsp:cNvPr id="0" name=""/>
        <dsp:cNvSpPr/>
      </dsp:nvSpPr>
      <dsp:spPr>
        <a:xfrm>
          <a:off x="8573374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Transforms raw embeddings into robust, dense, and manageable feature vectors.</a:t>
          </a:r>
        </a:p>
      </dsp:txBody>
      <dsp:txXfrm>
        <a:off x="8573374" y="1640565"/>
        <a:ext cx="2148945" cy="9116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428B0F-1ADD-44B3-92D5-1E5AC0BF09CA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EBF05A-49CE-4F4A-BB21-9B248B4D9B68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720AE-E65B-46B5-9AD2-CCEE2BD198BA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Phase 4: Multimodal Late Fusion</a:t>
          </a:r>
          <a:endParaRPr lang="en-US" sz="1200" kern="1200"/>
        </a:p>
      </dsp:txBody>
      <dsp:txXfrm>
        <a:off x="93445" y="3018902"/>
        <a:ext cx="3206250" cy="720000"/>
      </dsp:txXfrm>
    </dsp:sp>
    <dsp:sp modelId="{30B9A8AC-435E-4AB2-B151-48FD002DEC16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A02C18-F570-49CE-91AE-09416017911A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8AC33B-FDCB-458A-B604-8D0D8A0C442E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Integrates </a:t>
          </a:r>
          <a:r>
            <a:rPr lang="en-US" sz="1200" b="1" kern="1200"/>
            <a:t>Static Features</a:t>
          </a:r>
          <a:r>
            <a:rPr lang="en-US" sz="1200" kern="1200"/>
            <a:t> (Demographics + Blood Biomarkers) with </a:t>
          </a:r>
          <a:r>
            <a:rPr lang="en-US" sz="1200" b="1" kern="1200"/>
            <a:t>Dynamic Features</a:t>
          </a:r>
          <a:r>
            <a:rPr lang="en-US" sz="1200" kern="1200"/>
            <a:t> (WFM Wearable Embeddings).</a:t>
          </a:r>
        </a:p>
      </dsp:txBody>
      <dsp:txXfrm>
        <a:off x="3860789" y="3018902"/>
        <a:ext cx="3206250" cy="720000"/>
      </dsp:txXfrm>
    </dsp:sp>
    <dsp:sp modelId="{A96024E2-0FAF-49A9-9759-85BD98973467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B523B0-0177-4377-A210-8913E52E6C7A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355D4-0E39-44ED-895F-313C55C4BCC9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Feeds the combined data into a gradient-boosted ensemble model to predict continuous </a:t>
          </a:r>
          <a:r>
            <a:rPr lang="en-US" sz="1200" b="1" kern="1200"/>
            <a:t>HOMA-IR values</a:t>
          </a:r>
          <a:r>
            <a:rPr lang="en-US" sz="1200" kern="1200"/>
            <a:t> and perform classification.</a:t>
          </a:r>
        </a:p>
      </dsp:txBody>
      <dsp:txXfrm>
        <a:off x="7628133" y="3018902"/>
        <a:ext cx="32062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9C2077-546A-4934-8C80-B6C06DFA04B0}">
      <dsp:nvSpPr>
        <dsp:cNvPr id="0" name=""/>
        <dsp:cNvSpPr/>
      </dsp:nvSpPr>
      <dsp:spPr>
        <a:xfrm>
          <a:off x="0" y="201076"/>
          <a:ext cx="6666833" cy="162824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Independent Cohort Validation</a:t>
          </a:r>
          <a:endParaRPr lang="en-US" sz="2900" kern="1200"/>
        </a:p>
      </dsp:txBody>
      <dsp:txXfrm>
        <a:off x="79484" y="280560"/>
        <a:ext cx="6507865" cy="1469274"/>
      </dsp:txXfrm>
    </dsp:sp>
    <dsp:sp modelId="{BD5C1C47-C799-4D20-BFB2-69CAFF6CEEDF}">
      <dsp:nvSpPr>
        <dsp:cNvPr id="0" name=""/>
        <dsp:cNvSpPr/>
      </dsp:nvSpPr>
      <dsp:spPr>
        <a:xfrm>
          <a:off x="0" y="1912838"/>
          <a:ext cx="6666833" cy="1628242"/>
        </a:xfrm>
        <a:prstGeom prst="roundRect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Tested on a completely </a:t>
          </a:r>
          <a:r>
            <a:rPr lang="en-US" sz="2900" b="1" kern="1200"/>
            <a:t>independent, blind validation cohort</a:t>
          </a:r>
          <a:r>
            <a:rPr lang="en-US" sz="2900" kern="1200"/>
            <a:t> (n = 82).</a:t>
          </a:r>
        </a:p>
      </dsp:txBody>
      <dsp:txXfrm>
        <a:off x="79484" y="1992322"/>
        <a:ext cx="6507865" cy="1469274"/>
      </dsp:txXfrm>
    </dsp:sp>
    <dsp:sp modelId="{FD0E1E8C-0EEA-497A-98AD-0C1FC192EB98}">
      <dsp:nvSpPr>
        <dsp:cNvPr id="0" name=""/>
        <dsp:cNvSpPr/>
      </dsp:nvSpPr>
      <dsp:spPr>
        <a:xfrm>
          <a:off x="0" y="3624601"/>
          <a:ext cx="6666833" cy="1628242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Utilized a </a:t>
          </a:r>
          <a:r>
            <a:rPr lang="en-US" sz="2900" b="1" kern="1200"/>
            <a:t>newer generation device</a:t>
          </a:r>
          <a:r>
            <a:rPr lang="en-US" sz="2900" kern="1200"/>
            <a:t> (Fitbit Charge 6) to ensure cross-device generalizability and rule out overfitting.</a:t>
          </a:r>
        </a:p>
      </dsp:txBody>
      <dsp:txXfrm>
        <a:off x="79484" y="3704085"/>
        <a:ext cx="6507865" cy="14692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320E0-35E1-4178-8650-B9D6B2BF4D17}">
      <dsp:nvSpPr>
        <dsp:cNvPr id="0" name=""/>
        <dsp:cNvSpPr/>
      </dsp:nvSpPr>
      <dsp:spPr>
        <a:xfrm>
          <a:off x="0" y="24390"/>
          <a:ext cx="10927829" cy="115786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Performance Jump (Ablation Study Results)</a:t>
          </a:r>
          <a:endParaRPr lang="en-US" sz="2900" kern="1200"/>
        </a:p>
      </dsp:txBody>
      <dsp:txXfrm>
        <a:off x="56522" y="80912"/>
        <a:ext cx="10814785" cy="1044817"/>
      </dsp:txXfrm>
    </dsp:sp>
    <dsp:sp modelId="{19C3C513-E461-4B13-BB78-F5CB9C1B0564}">
      <dsp:nvSpPr>
        <dsp:cNvPr id="0" name=""/>
        <dsp:cNvSpPr/>
      </dsp:nvSpPr>
      <dsp:spPr>
        <a:xfrm>
          <a:off x="0" y="1265771"/>
          <a:ext cx="10927829" cy="1157861"/>
        </a:xfrm>
        <a:prstGeom prst="roundRect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Baseline Model</a:t>
          </a:r>
          <a:r>
            <a:rPr lang="en-US" sz="2900" kern="1200"/>
            <a:t> </a:t>
          </a:r>
          <a:r>
            <a:rPr lang="en-US" sz="2900" i="1" kern="1200"/>
            <a:t>(Demographics + Labs Only)</a:t>
          </a:r>
          <a:r>
            <a:rPr lang="en-US" sz="2900" kern="1200"/>
            <a:t>: </a:t>
          </a:r>
          <a:r>
            <a:rPr lang="en-US" sz="2900" b="1" kern="1200"/>
            <a:t>AUROC = 0.78</a:t>
          </a:r>
          <a:endParaRPr lang="en-US" sz="2900" kern="1200"/>
        </a:p>
      </dsp:txBody>
      <dsp:txXfrm>
        <a:off x="56522" y="1322293"/>
        <a:ext cx="10814785" cy="1044817"/>
      </dsp:txXfrm>
    </dsp:sp>
    <dsp:sp modelId="{4EAF5085-9733-47C0-923C-8270D2E476E8}">
      <dsp:nvSpPr>
        <dsp:cNvPr id="0" name=""/>
        <dsp:cNvSpPr/>
      </dsp:nvSpPr>
      <dsp:spPr>
        <a:xfrm>
          <a:off x="0" y="2507153"/>
          <a:ext cx="10927829" cy="1157861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Proposed Multimodal Framework</a:t>
          </a:r>
          <a:r>
            <a:rPr lang="en-US" sz="2900" kern="1200"/>
            <a:t> </a:t>
          </a:r>
          <a:r>
            <a:rPr lang="en-US" sz="2900" i="1" kern="1200"/>
            <a:t>(Labs + Demographics + WFM)</a:t>
          </a:r>
          <a:r>
            <a:rPr lang="en-US" sz="2900" kern="1200"/>
            <a:t>: </a:t>
          </a:r>
          <a:r>
            <a:rPr lang="en-US" sz="2900" b="1" kern="1200"/>
            <a:t>AUROC = 0.87</a:t>
          </a:r>
          <a:r>
            <a:rPr lang="en-US" sz="2900" kern="1200"/>
            <a:t> ( Significant clinical improvement).</a:t>
          </a:r>
        </a:p>
      </dsp:txBody>
      <dsp:txXfrm>
        <a:off x="56522" y="2563675"/>
        <a:ext cx="10814785" cy="10448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946A-9DD2-5B43-8D08-5111F9F4B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AE0D4-8935-13D8-CA00-D53BEF899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B8A2-A9F5-AA5C-2CFB-B03254FCE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97FB8-0383-034A-9BD1-DF3FA022E5BF}" type="datetimeFigureOut">
              <a:rPr lang="en-JO" smtClean="0"/>
              <a:t>06/20/2026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70718-C200-515A-F296-43C9EEA71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F3E83-3C3A-672D-3B89-ACC9008D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C992-ED8F-8145-9A4F-865ABF9AED09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2375854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0E222-32B9-C0E2-A53B-ABFDED976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B7C95-2A5C-9805-33EC-1D01498BA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FF761-DFCA-DE8A-7DDD-37457CD4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97FB8-0383-034A-9BD1-DF3FA022E5BF}" type="datetimeFigureOut">
              <a:rPr lang="en-JO" smtClean="0"/>
              <a:t>06/20/2026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D803F-595D-49E6-60F8-1277739D3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203E9-684A-6B47-B0F6-1304E7F5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C992-ED8F-8145-9A4F-865ABF9AED09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104361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FD3B4-603F-BB23-2428-ED56AD64B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553F5-8A68-19E6-B5C1-CC0E37DFC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7DA70-4F73-3DC9-D35A-C895EF663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97FB8-0383-034A-9BD1-DF3FA022E5BF}" type="datetimeFigureOut">
              <a:rPr lang="en-JO" smtClean="0"/>
              <a:t>06/20/2026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7BE95-94C8-2BE3-2E8F-B893A808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15CF2-CB6D-9C8A-940C-B5BA77995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C992-ED8F-8145-9A4F-865ABF9AED09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2299542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813A-ADC6-F574-C694-E6AA8418C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21FD5-F0FB-0847-EBCB-1B2A8F573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ECB53-42F2-BFD9-DD27-81DCDFBA2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80B29-62F1-5198-49E9-C109C6BCD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97FB8-0383-034A-9BD1-DF3FA022E5BF}" type="datetimeFigureOut">
              <a:rPr lang="en-JO" smtClean="0"/>
              <a:t>06/20/2026</a:t>
            </a:fld>
            <a:endParaRPr lang="en-J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7B67F-250D-CA17-BDEF-1F4CC6D6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BDE40-AB50-ED3E-2C68-FF3A93B4A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C992-ED8F-8145-9A4F-865ABF9AED09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577277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FB9DF-03EA-7DA4-8461-62F9EC6C4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27E46-4618-41E9-25EF-455BD8458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3BFD5-8C32-FC2D-91A5-608C47438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E7097A-E848-7F0A-25B5-245A6321CF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04C502-1CAA-0068-0979-0B9A221C9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8D8FA6-FF02-1175-C868-978AEB065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97FB8-0383-034A-9BD1-DF3FA022E5BF}" type="datetimeFigureOut">
              <a:rPr lang="en-JO" smtClean="0"/>
              <a:t>06/20/2026</a:t>
            </a:fld>
            <a:endParaRPr lang="en-J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D1D1D2-E407-A3EE-EA9A-915E5B1AC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A77B8D-00C1-5005-6B8B-3DB22B957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C992-ED8F-8145-9A4F-865ABF9AED09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383797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2A0A-FC78-D615-A822-BE5C49F6D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D0EAD1-7B3A-8E4B-12AC-E7A0FDB52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97FB8-0383-034A-9BD1-DF3FA022E5BF}" type="datetimeFigureOut">
              <a:rPr lang="en-JO" smtClean="0"/>
              <a:t>06/20/2026</a:t>
            </a:fld>
            <a:endParaRPr lang="en-J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EA0A20-B1FB-4DBA-D585-10876486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3DE62-8EB9-99E7-4A04-74A015B6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C992-ED8F-8145-9A4F-865ABF9AED09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191938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BE10C7-E161-E4BD-CF98-9939553B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97FB8-0383-034A-9BD1-DF3FA022E5BF}" type="datetimeFigureOut">
              <a:rPr lang="en-JO" smtClean="0"/>
              <a:t>06/20/2026</a:t>
            </a:fld>
            <a:endParaRPr lang="en-J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214F1B-D853-8B35-F501-C1BF7DFB3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AC6DC-D74A-5797-258B-631C227A7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C992-ED8F-8145-9A4F-865ABF9AED09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3421337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54BBD-6955-3DD4-D313-6DE9E1B6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17A21-083D-AB0B-04C9-90982EF71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E460B-1C8C-BDAA-54B6-0C69D29E6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681E6-D7BC-B760-BFBE-1B6385705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97FB8-0383-034A-9BD1-DF3FA022E5BF}" type="datetimeFigureOut">
              <a:rPr lang="en-JO" smtClean="0"/>
              <a:t>06/20/2026</a:t>
            </a:fld>
            <a:endParaRPr lang="en-J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F99D5-24E9-F728-27EB-B122EDE5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E82E5-52BE-443C-2BD7-0BCFACD8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C992-ED8F-8145-9A4F-865ABF9AED09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1605767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AA023-316A-9E36-7385-13C5E3EA1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C8385-E35E-2E1A-D04E-4B3412829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1E69CE-B430-E4F9-71E5-A151E518C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703B7-C14E-907D-CD73-68CB70D1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97FB8-0383-034A-9BD1-DF3FA022E5BF}" type="datetimeFigureOut">
              <a:rPr lang="en-JO" smtClean="0"/>
              <a:t>06/20/2026</a:t>
            </a:fld>
            <a:endParaRPr lang="en-J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C1CE7-1408-AEFE-3035-57D2E84C9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98F14-6406-18E3-32A0-DEFCAA361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C992-ED8F-8145-9A4F-865ABF9AED09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2925249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6E302-5B98-6063-489A-7317205F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0ACC5-2658-1BA2-5A0B-C5F92AB74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761B3-40E0-340C-B6FB-F581A1BC9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97FB8-0383-034A-9BD1-DF3FA022E5BF}" type="datetimeFigureOut">
              <a:rPr lang="en-JO" smtClean="0"/>
              <a:t>06/20/2026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08AF8-355E-0BFA-1DFB-73D288BA0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2D179-18AA-D695-5806-B5281BF37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C992-ED8F-8145-9A4F-865ABF9AED09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3479238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04D8A4-8F2E-FEC9-A24E-BBFD580BCA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E5056-BB38-34CB-CC19-BC4E83BFD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BE2B0-E39E-81C7-3C42-59E4EBDF0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97FB8-0383-034A-9BD1-DF3FA022E5BF}" type="datetimeFigureOut">
              <a:rPr lang="en-JO" smtClean="0"/>
              <a:t>06/20/2026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45102-56EC-F095-2952-517F101B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A3C33-244D-DC1A-0309-BB045C6E6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C992-ED8F-8145-9A4F-865ABF9AED09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2248298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722DD-2EA1-25D5-4875-B4291192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C87A4-8A82-521C-0730-232FF8413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FA2EB-CED5-667F-C495-BA55D2C91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97FB8-0383-034A-9BD1-DF3FA022E5BF}" type="datetimeFigureOut">
              <a:rPr lang="en-JO" smtClean="0"/>
              <a:t>06/20/2026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7B81A-C271-8D9F-CC45-13F94848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8E20E-4ED1-97DF-1604-5FBA4196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BC992-ED8F-8145-9A4F-865ABF9AED09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1409846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92F54E-36BA-BADE-0F35-FE513F5C4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13CF8-250F-DD94-3B20-E8ED4C726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8F632-3598-08C5-A18D-4390C1B2A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97FB8-0383-034A-9BD1-DF3FA022E5BF}" type="datetimeFigureOut">
              <a:rPr lang="en-JO" smtClean="0"/>
              <a:t>06/20/2026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CC390-31CF-E34B-0D42-3AE0A8AB5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B7CB4-8C9D-7D0E-34D1-3EF6BB8DE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CBC992-ED8F-8145-9A4F-865ABF9AED09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1985643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 /><Relationship Id="rId2" Type="http://schemas.openxmlformats.org/officeDocument/2006/relationships/diagramData" Target="../diagrams/data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.xml" /><Relationship Id="rId5" Type="http://schemas.openxmlformats.org/officeDocument/2006/relationships/diagramColors" Target="../diagrams/colors2.xml" /><Relationship Id="rId4" Type="http://schemas.openxmlformats.org/officeDocument/2006/relationships/diagramQuickStyle" Target="../diagrams/quickStyle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 /><Relationship Id="rId2" Type="http://schemas.openxmlformats.org/officeDocument/2006/relationships/diagramData" Target="../diagrams/data3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3.xml" /><Relationship Id="rId5" Type="http://schemas.openxmlformats.org/officeDocument/2006/relationships/diagramColors" Target="../diagrams/colors3.xml" /><Relationship Id="rId4" Type="http://schemas.openxmlformats.org/officeDocument/2006/relationships/diagramQuickStyle" Target="../diagrams/quickStyle3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 /><Relationship Id="rId2" Type="http://schemas.openxmlformats.org/officeDocument/2006/relationships/diagramData" Target="../diagrams/data4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4.xml" /><Relationship Id="rId5" Type="http://schemas.openxmlformats.org/officeDocument/2006/relationships/diagramColors" Target="../diagrams/colors4.xml" /><Relationship Id="rId4" Type="http://schemas.openxmlformats.org/officeDocument/2006/relationships/diagramQuickStyle" Target="../diagrams/quickStyle4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 /><Relationship Id="rId2" Type="http://schemas.openxmlformats.org/officeDocument/2006/relationships/diagramData" Target="../diagrams/data5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5.xml" /><Relationship Id="rId5" Type="http://schemas.openxmlformats.org/officeDocument/2006/relationships/diagramColors" Target="../diagrams/colors5.xml" /><Relationship Id="rId4" Type="http://schemas.openxmlformats.org/officeDocument/2006/relationships/diagramQuickStyle" Target="../diagrams/quickStyle5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 /><Relationship Id="rId2" Type="http://schemas.openxmlformats.org/officeDocument/2006/relationships/diagramData" Target="../diagrams/data6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6.xml" /><Relationship Id="rId5" Type="http://schemas.openxmlformats.org/officeDocument/2006/relationships/diagramColors" Target="../diagrams/colors6.xml" /><Relationship Id="rId4" Type="http://schemas.openxmlformats.org/officeDocument/2006/relationships/diagramQuickStyle" Target="../diagrams/quickStyle6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 /><Relationship Id="rId2" Type="http://schemas.openxmlformats.org/officeDocument/2006/relationships/diagramData" Target="../diagrams/data7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7.xml" /><Relationship Id="rId5" Type="http://schemas.openxmlformats.org/officeDocument/2006/relationships/diagramColors" Target="../diagrams/colors7.xml" /><Relationship Id="rId4" Type="http://schemas.openxmlformats.org/officeDocument/2006/relationships/diagramQuickStyle" Target="../diagrams/quickStyle7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 /><Relationship Id="rId2" Type="http://schemas.openxmlformats.org/officeDocument/2006/relationships/diagramData" Target="../diagrams/data8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8.xml" /><Relationship Id="rId5" Type="http://schemas.openxmlformats.org/officeDocument/2006/relationships/diagramColors" Target="../diagrams/colors8.xml" /><Relationship Id="rId4" Type="http://schemas.openxmlformats.org/officeDocument/2006/relationships/diagramQuickStyle" Target="../diagrams/quickStyle8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 /><Relationship Id="rId1" Type="http://schemas.openxmlformats.org/officeDocument/2006/relationships/slideLayout" Target="../slideLayouts/slideLayout1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 /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9EC5BD-97AF-FCDC-CB95-33F2DEF07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4105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br>
              <a:rPr lang="en-US" sz="33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3300" kern="120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33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5" name="Graphic 14" descr="DNA">
            <a:extLst>
              <a:ext uri="{FF2B5EF4-FFF2-40B4-BE49-F238E27FC236}">
                <a16:creationId xmlns:a16="http://schemas.microsoft.com/office/drawing/2014/main" id="{5DCCD239-0DA5-4DCD-08D2-241B55C05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BEAE0F-B273-47F6-BDB9-ECB69E360747}"/>
              </a:ext>
            </a:extLst>
          </p:cNvPr>
          <p:cNvSpPr txBox="1"/>
          <p:nvPr/>
        </p:nvSpPr>
        <p:spPr>
          <a:xfrm>
            <a:off x="6090574" y="1016000"/>
            <a:ext cx="4977578" cy="50390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 i="0">
                <a:solidFill>
                  <a:schemeClr val="tx2"/>
                </a:solidFill>
                <a:effectLst/>
              </a:rPr>
              <a:t>Insulin Resistance Prediction from Wearables and Routine</a:t>
            </a:r>
            <a:r>
              <a:rPr lang="en-US" sz="3200" b="1">
                <a:solidFill>
                  <a:schemeClr val="tx2"/>
                </a:solidFill>
              </a:rPr>
              <a:t> </a:t>
            </a:r>
            <a:r>
              <a:rPr lang="en-US" sz="3200" b="1" i="0">
                <a:solidFill>
                  <a:schemeClr val="tx2"/>
                </a:solidFill>
                <a:effectLst/>
              </a:rPr>
              <a:t>Blood Biomarkers</a:t>
            </a:r>
            <a:endParaRPr lang="en-US" sz="3200" b="1" i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 i="0">
                <a:solidFill>
                  <a:schemeClr val="tx2"/>
                </a:solidFill>
                <a:effectLst/>
              </a:rPr>
              <a:t>Using Multimodal Artificial Intelligence for Early </a:t>
            </a:r>
            <a:br>
              <a:rPr lang="en-US" sz="3200" b="1" i="0">
                <a:solidFill>
                  <a:schemeClr val="tx2"/>
                </a:solidFill>
                <a:effectLst/>
              </a:rPr>
            </a:br>
            <a:r>
              <a:rPr lang="en-US" sz="3200" b="1" i="0">
                <a:solidFill>
                  <a:schemeClr val="tx2"/>
                </a:solidFill>
                <a:effectLst/>
              </a:rPr>
              <a:t>Detection of Type 2 Diabetes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i="0" u="sng">
                <a:solidFill>
                  <a:schemeClr val="tx2"/>
                </a:solidFill>
                <a:effectLst/>
              </a:rPr>
              <a:t>Based on the WEAR-ME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i="0" u="sng">
                <a:solidFill>
                  <a:schemeClr val="tx2"/>
                </a:solidFill>
                <a:effectLst/>
              </a:rPr>
              <a:t>Clinical Study 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600">
                <a:solidFill>
                  <a:schemeClr val="tx2"/>
                </a:solidFill>
              </a:rPr>
              <a:t>Presented by: </a:t>
            </a:r>
            <a:r>
              <a:rPr lang="en-US" sz="2600" err="1">
                <a:solidFill>
                  <a:schemeClr val="tx2"/>
                </a:solidFill>
              </a:rPr>
              <a:t>Marwa</a:t>
            </a:r>
            <a:r>
              <a:rPr lang="en-US" sz="2600">
                <a:solidFill>
                  <a:schemeClr val="tx2"/>
                </a:solidFill>
              </a:rPr>
              <a:t> </a:t>
            </a:r>
            <a:r>
              <a:rPr lang="en-US" sz="2600" err="1">
                <a:solidFill>
                  <a:schemeClr val="tx2"/>
                </a:solidFill>
              </a:rPr>
              <a:t>Alrafayia</a:t>
            </a:r>
            <a:r>
              <a:rPr lang="en-US" sz="2600">
                <a:solidFill>
                  <a:schemeClr val="tx2"/>
                </a:solidFill>
              </a:rPr>
              <a:t> , Doha </a:t>
            </a:r>
            <a:r>
              <a:rPr lang="en-US" sz="2600" err="1">
                <a:solidFill>
                  <a:schemeClr val="tx2"/>
                </a:solidFill>
              </a:rPr>
              <a:t>Aldababseh</a:t>
            </a:r>
            <a:r>
              <a:rPr lang="en-US" sz="2600">
                <a:solidFill>
                  <a:schemeClr val="tx2"/>
                </a:solidFill>
              </a:rPr>
              <a:t>, </a:t>
            </a:r>
            <a:r>
              <a:rPr lang="en-US" sz="2600" err="1">
                <a:solidFill>
                  <a:schemeClr val="tx2"/>
                </a:solidFill>
              </a:rPr>
              <a:t>Qabas</a:t>
            </a:r>
            <a:r>
              <a:rPr lang="en-US" sz="2600">
                <a:solidFill>
                  <a:schemeClr val="tx2"/>
                </a:solidFill>
              </a:rPr>
              <a:t> </a:t>
            </a:r>
            <a:r>
              <a:rPr lang="en-US" sz="2600" err="1">
                <a:solidFill>
                  <a:schemeClr val="tx2"/>
                </a:solidFill>
              </a:rPr>
              <a:t>Arbiat</a:t>
            </a:r>
            <a:r>
              <a:rPr lang="en-US" sz="2600">
                <a:solidFill>
                  <a:schemeClr val="tx2"/>
                </a:solidFill>
              </a:rPr>
              <a:t> </a:t>
            </a:r>
            <a:br>
              <a:rPr lang="en-US" sz="2600">
                <a:solidFill>
                  <a:schemeClr val="tx2"/>
                </a:solidFill>
                <a:effectLst/>
              </a:rPr>
            </a:br>
            <a:endParaRPr lang="en-US" sz="260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56759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1DF33-8702-1CCC-9380-36B8798DC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Clinical Background </a:t>
            </a:r>
            <a:endParaRPr lang="en-JO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A9293-B185-C911-A164-436E658E4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JO" sz="2000" b="0" i="0">
                <a:effectLst/>
                <a:latin typeface="UICTFontTextStyleBody"/>
              </a:rPr>
              <a:t>The Pathological Precursor: IR is the primary driver of Type 2 Diabetes (T2D), developing silently years before clinical diagnosis or changes in HbA1c.</a:t>
            </a:r>
            <a:endParaRPr lang="en-JO" sz="2000">
              <a:effectLst/>
              <a:latin typeface=".AppleSystemUIFont"/>
            </a:endParaRPr>
          </a:p>
          <a:p>
            <a:r>
              <a:rPr lang="en-JO" sz="2000" b="0" i="0">
                <a:effectLst/>
                <a:latin typeface="UICTFontTextStyleBody"/>
              </a:rPr>
              <a:t> Systemic Complications: Chronic IR is strongly linked to Prediabetes, Cardiovascular Disease (CVD), and Metabolic Dysfunction-Associated Steatotic Liver Disease (MASLD).</a:t>
            </a:r>
            <a:endParaRPr lang="en-JO" sz="2000">
              <a:effectLst/>
              <a:latin typeface=".AppleSystemUIFont"/>
            </a:endParaRPr>
          </a:p>
          <a:p>
            <a:r>
              <a:rPr lang="en-JO" sz="2000" b="0" i="0">
                <a:effectLst/>
                <a:latin typeface="UICTFontTextStyleBody"/>
              </a:rPr>
              <a:t> Clinical Window of Opportunity: Early detection enables targeted lifestyle interventions (diet, exercise) that can fully reverse metabolic decline before permanent pancreatic beta-cell damage occurs.</a:t>
            </a:r>
            <a:endParaRPr lang="en-JO" sz="2000">
              <a:effectLst/>
              <a:latin typeface=".AppleSystemUIFont"/>
            </a:endParaRPr>
          </a:p>
          <a:p>
            <a:endParaRPr lang="en-JO" sz="2000"/>
          </a:p>
        </p:txBody>
      </p:sp>
    </p:spTree>
    <p:extLst>
      <p:ext uri="{BB962C8B-B14F-4D97-AF65-F5344CB8AC3E}">
        <p14:creationId xmlns:p14="http://schemas.microsoft.com/office/powerpoint/2010/main" val="3579034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0DCD5-B72B-F822-BD03-BF495071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JO" sz="4000" b="0" i="0">
                <a:solidFill>
                  <a:srgbClr val="FFFFFF"/>
                </a:solidFill>
                <a:effectLst/>
                <a:latin typeface="UICTFontTextStyleBody"/>
              </a:rPr>
              <a:t>Limitations of Current Diagnostic Methods</a:t>
            </a:r>
            <a:endParaRPr lang="en-JO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DE298-1FA4-294B-1BFA-C87F2592A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JO" sz="1900" b="0" i="0">
                <a:effectLst/>
                <a:latin typeface="UICTFontTextStyleBody"/>
              </a:rPr>
              <a:t>The Clinical Dilemma: Standard diagnostics require invasive, episodic laboratory infrastructure, making population-wide screening non-scalable.</a:t>
            </a:r>
            <a:endParaRPr lang="en-GB" sz="1900">
              <a:latin typeface=".AppleSystemUIFont"/>
            </a:endParaRPr>
          </a:p>
          <a:p>
            <a:r>
              <a:rPr lang="en-JO" sz="1900" b="0" i="0">
                <a:effectLst/>
                <a:latin typeface="UICTFontTextStyleBody"/>
              </a:rPr>
              <a:t>Existing Clinical Standards:</a:t>
            </a:r>
            <a:endParaRPr lang="en-JO" sz="1900">
              <a:effectLst/>
              <a:latin typeface=".AppleSystemUIFont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JO" sz="1900" b="0" i="0">
                <a:effectLst/>
                <a:latin typeface="UICTFontTextStyleBody"/>
              </a:rPr>
              <a:t>  Hyperinsulinemic-Euglycemic Clamp: The absolute Gold Standard; highly invasive, complex, and restricted to research settings.</a:t>
            </a:r>
            <a:endParaRPr lang="en-JO" sz="1900">
              <a:effectLst/>
              <a:latin typeface=".AppleSystemUIFont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JO" sz="1900" b="0" i="0">
                <a:effectLst/>
                <a:latin typeface="UICTFontTextStyleBody"/>
              </a:rPr>
              <a:t>  Oral Glucose Tolerance Test (OGTT): Time-consuming (2+ hours) and requires multiple blood draws.</a:t>
            </a:r>
            <a:endParaRPr lang="en-JO" sz="1900">
              <a:effectLst/>
              <a:latin typeface=".AppleSystemUIFont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JO" sz="1900" b="0" i="0">
                <a:effectLst/>
                <a:latin typeface="UICTFontTextStyleBody"/>
              </a:rPr>
              <a:t>  HOMA-IR (Homeostatic Model Assessment): Requires fasting blood samples, capturing only a single static snapshot in time.</a:t>
            </a:r>
            <a:endParaRPr lang="en-GB" sz="1900">
              <a:latin typeface=".AppleSystemUIFont"/>
            </a:endParaRPr>
          </a:p>
          <a:p>
            <a:pPr marL="0" indent="0">
              <a:buNone/>
            </a:pPr>
            <a:r>
              <a:rPr lang="en-JO" sz="1900" b="0" i="0">
                <a:effectLst/>
                <a:latin typeface="UICTFontTextStyleBody"/>
              </a:rPr>
              <a:t>The Missing Link: Current clinical pathways fail to capture continuous, real-world physiological and behavioral dynamics.</a:t>
            </a:r>
            <a:endParaRPr lang="en-JO" sz="1900">
              <a:effectLst/>
              <a:latin typeface=".AppleSystemUIFont"/>
            </a:endParaRPr>
          </a:p>
          <a:p>
            <a:endParaRPr lang="en-JO" sz="1900"/>
          </a:p>
        </p:txBody>
      </p:sp>
    </p:spTree>
    <p:extLst>
      <p:ext uri="{BB962C8B-B14F-4D97-AF65-F5344CB8AC3E}">
        <p14:creationId xmlns:p14="http://schemas.microsoft.com/office/powerpoint/2010/main" val="1939243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CD54-B19A-D2E8-4519-1A48347C1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JO" sz="4000" b="0" i="0">
                <a:solidFill>
                  <a:srgbClr val="FFFFFF"/>
                </a:solidFill>
                <a:effectLst/>
                <a:latin typeface="UICTFontTextStyleBody"/>
              </a:rPr>
              <a:t>Scalable Multimodal AI Framework</a:t>
            </a:r>
            <a:endParaRPr lang="en-JO" sz="4000">
              <a:solidFill>
                <a:srgbClr val="FFFFFF"/>
              </a:solidFill>
              <a:effectLst/>
              <a:latin typeface=".AppleSystemUIFon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68CBE-D70B-D2C8-01FA-2A5164DEA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JO" sz="2000" b="0" i="0">
                <a:effectLst/>
                <a:latin typeface="UICTFontTextStyleBody"/>
              </a:rPr>
              <a:t>Primary Aim: To develop and validate a scalable, non-invasive multimodal framework that predicts insulin resistance by blending passive continuous data with static clinical metrics.</a:t>
            </a:r>
            <a:endParaRPr lang="en-JO" sz="2000">
              <a:effectLst/>
              <a:latin typeface=".AppleSystemUIFont"/>
            </a:endParaRPr>
          </a:p>
          <a:p>
            <a:r>
              <a:rPr lang="en-JO" sz="2000" b="0" i="0">
                <a:effectLst/>
                <a:latin typeface="UICTFontTextStyleBody"/>
              </a:rPr>
              <a:t> </a:t>
            </a:r>
            <a:r>
              <a:rPr lang="en-GB" sz="2000" b="0" i="0">
                <a:effectLst/>
                <a:latin typeface="UICTFontTextStyleBody"/>
              </a:rPr>
              <a:t> </a:t>
            </a:r>
            <a:r>
              <a:rPr lang="en-JO" sz="2000" b="0" i="0">
                <a:effectLst/>
                <a:latin typeface="UICTFontTextStyleBody"/>
              </a:rPr>
              <a:t>Core Inputs:</a:t>
            </a:r>
            <a:endParaRPr lang="en-GB" sz="2000">
              <a:latin typeface=".AppleSystemUIFont"/>
            </a:endParaRPr>
          </a:p>
          <a:p>
            <a:pPr marL="0" indent="0">
              <a:buNone/>
            </a:pPr>
            <a:r>
              <a:rPr lang="en-JO" sz="2000" b="0" i="0">
                <a:effectLst/>
                <a:latin typeface="UICTFontTextStyleBody"/>
              </a:rPr>
              <a:t>  1. Continuous time-series data from consumer-grade wearables.</a:t>
            </a:r>
            <a:endParaRPr lang="en-JO" sz="200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en-JO" sz="2000" b="0" i="0">
                <a:effectLst/>
                <a:latin typeface="UICTFontTextStyleBody"/>
              </a:rPr>
              <a:t>   2. Routine, low-cost blood biomarkers.</a:t>
            </a:r>
            <a:endParaRPr lang="en-JO" sz="200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en-JO" sz="2000" b="0" i="0">
                <a:effectLst/>
                <a:latin typeface="UICTFontTextStyleBody"/>
              </a:rPr>
              <a:t>   3. Standard demographic information.</a:t>
            </a:r>
            <a:endParaRPr lang="en-JO" sz="200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en-JO" sz="2000" b="0" i="0">
                <a:effectLst/>
                <a:latin typeface="UICTFontTextStyleBody"/>
              </a:rPr>
              <a:t> Innovation: Shifting metabolic health assessment from reactive, episodic lab visits to proactive, continuous, real-world screening.</a:t>
            </a:r>
            <a:endParaRPr lang="en-JO" sz="2000">
              <a:effectLst/>
              <a:latin typeface=".AppleSystemUIFont"/>
            </a:endParaRPr>
          </a:p>
          <a:p>
            <a:endParaRPr lang="en-JO" sz="2000"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4245138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5B450E-BDF3-2FC2-200D-87199E81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JO" sz="4000" b="0" i="0">
                <a:solidFill>
                  <a:srgbClr val="FFFFFF"/>
                </a:solidFill>
                <a:effectLst/>
                <a:latin typeface="UICTFontTextStyleBody"/>
              </a:rPr>
              <a:t>WEAR-ME Study Design &amp; Dataset</a:t>
            </a:r>
            <a:endParaRPr lang="en-JO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6B700-9426-088A-ABB4-D156FD824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JO" sz="2000" b="0" i="0">
                <a:effectLst/>
                <a:latin typeface="UICTFontTextStyleBody"/>
              </a:rPr>
              <a:t> Conducted via a large-scale decentralized remote infrastructure using the Google Health Studies application.</a:t>
            </a:r>
            <a:endParaRPr lang="en-JO" sz="2000">
              <a:effectLst/>
              <a:latin typeface=".AppleSystemUIFont"/>
            </a:endParaRPr>
          </a:p>
          <a:p>
            <a:r>
              <a:rPr lang="en-JO" sz="2000" b="0" i="0">
                <a:effectLst/>
                <a:latin typeface="UICTFontTextStyleBody"/>
              </a:rPr>
              <a:t> The Discovery Cohort (n = 1,165):</a:t>
            </a:r>
            <a:endParaRPr lang="en-JO" sz="2000">
              <a:effectLst/>
              <a:latin typeface=".AppleSystemUIFont"/>
            </a:endParaRPr>
          </a:p>
          <a:p>
            <a:r>
              <a:rPr lang="en-JO" sz="2000" b="0" i="0">
                <a:effectLst/>
                <a:latin typeface="UICTFontTextStyleBody"/>
              </a:rPr>
              <a:t>  Demographics: Median Age = 45 years | Median BMI = 28 kg/m² (Overweight spectrum) | Median HbA1c = 5.4% (Normal spectrum).</a:t>
            </a:r>
            <a:endParaRPr lang="en-JO" sz="2000">
              <a:effectLst/>
              <a:latin typeface=".AppleSystemUIFont"/>
            </a:endParaRPr>
          </a:p>
          <a:p>
            <a:r>
              <a:rPr lang="en-JO" sz="2000" b="0" i="0">
                <a:effectLst/>
                <a:latin typeface="UICTFontTextStyleBody"/>
              </a:rPr>
              <a:t>  Note for the Panel: The normal median HbA1c highlights that many IR participants would go completely unnoticed using standard glycemic screening alone.</a:t>
            </a:r>
            <a:endParaRPr lang="en-JO" sz="2000">
              <a:effectLst/>
              <a:latin typeface=".AppleSystemUIFont"/>
            </a:endParaRPr>
          </a:p>
          <a:p>
            <a:r>
              <a:rPr lang="en-JO" sz="2000" b="0" i="0">
                <a:effectLst/>
                <a:latin typeface="UICTFontTextStyleBody"/>
              </a:rPr>
              <a:t> Data Collection Protocol: Continuous 24/7 passive data collection for up to 3 months using Fitbit and Google Pixel Watch devices, paired with standardized lab blood testing via Quest Diagnostics.</a:t>
            </a:r>
            <a:endParaRPr lang="en-JO" sz="2000"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1817006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A2432-380D-588E-71D7-66842C528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JO" sz="4000" b="0" i="0">
                <a:solidFill>
                  <a:srgbClr val="FFFFFF"/>
                </a:solidFill>
                <a:effectLst/>
                <a:latin typeface="UICTFontTextStyleBody"/>
              </a:rPr>
              <a:t>Ground Truth &amp; Inclusion Criteria</a:t>
            </a:r>
            <a:endParaRPr lang="en-JO" sz="4000">
              <a:solidFill>
                <a:srgbClr val="FFFFFF"/>
              </a:solidFill>
              <a:effectLst/>
              <a:latin typeface=".AppleSystemUIFon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09B5F-20E9-D783-D023-1D9E4843D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JO" sz="2000" b="0" i="0">
                <a:effectLst/>
                <a:latin typeface="UICTFontTextStyleBody"/>
              </a:rPr>
              <a:t>Mathematical Definition: Insulin resistance was quantified using the standard </a:t>
            </a:r>
            <a:r>
              <a:rPr lang="en-JO" sz="2000" b="1" i="0">
                <a:effectLst/>
                <a:latin typeface="UICTFontTextStyleBody"/>
              </a:rPr>
              <a:t>HOMA-IR</a:t>
            </a:r>
            <a:r>
              <a:rPr lang="en-JO" sz="2000" b="0" i="0">
                <a:effectLst/>
                <a:latin typeface="UICTFontTextStyleBody"/>
              </a:rPr>
              <a:t> formula:</a:t>
            </a:r>
            <a:endParaRPr lang="en-JO" sz="2000">
              <a:effectLst/>
              <a:latin typeface=".AppleSystemUIFont"/>
            </a:endParaRPr>
          </a:p>
          <a:p>
            <a:r>
              <a:rPr lang="en-JO" sz="2000" b="0" i="0">
                <a:effectLst/>
                <a:latin typeface="UICTFontTextStyleBody"/>
              </a:rPr>
              <a:t> Classification Cut-offs:</a:t>
            </a:r>
            <a:endParaRPr lang="en-JO" sz="2000">
              <a:effectLst/>
              <a:latin typeface=".AppleSystemUIFont"/>
            </a:endParaRPr>
          </a:p>
          <a:p>
            <a:r>
              <a:rPr lang="en-JO" sz="2000" b="0" i="0">
                <a:effectLst/>
                <a:latin typeface="UICTFontTextStyleBody"/>
              </a:rPr>
              <a:t>   </a:t>
            </a:r>
            <a:r>
              <a:rPr lang="en-JO" sz="2000" b="1" i="0">
                <a:effectLst/>
                <a:latin typeface="UICTFontTextStyleBody"/>
              </a:rPr>
              <a:t>HOMA-IR &lt; 1.5 → Insulin Sensitive (IS)</a:t>
            </a:r>
            <a:endParaRPr lang="en-JO" sz="2000" b="1">
              <a:effectLst/>
              <a:latin typeface=".AppleSystemUIFont"/>
            </a:endParaRPr>
          </a:p>
          <a:p>
            <a:r>
              <a:rPr lang="en-JO" sz="2000" b="1" i="0">
                <a:effectLst/>
                <a:latin typeface="UICTFontTextStyleBody"/>
              </a:rPr>
              <a:t>   1.5 ≤ HOMA-IR ≤ 2.9 → Impaired Insulin Sensitivity</a:t>
            </a:r>
            <a:endParaRPr lang="en-JO" sz="2000" b="1">
              <a:effectLst/>
              <a:latin typeface=".AppleSystemUIFont"/>
            </a:endParaRPr>
          </a:p>
          <a:p>
            <a:r>
              <a:rPr lang="en-JO" sz="2000" b="1" i="0">
                <a:effectLst/>
                <a:latin typeface="UICTFontTextStyleBody"/>
              </a:rPr>
              <a:t>   HOMA-IR &gt; 2.9 → Insulin Resistant (IR)</a:t>
            </a:r>
            <a:endParaRPr lang="en-JO" sz="2000" b="1">
              <a:effectLst/>
              <a:latin typeface=".AppleSystemUIFont"/>
            </a:endParaRPr>
          </a:p>
          <a:p>
            <a:r>
              <a:rPr lang="en-JO" sz="2000" b="0" i="0">
                <a:effectLst/>
                <a:latin typeface="UICTFontTextStyleBody"/>
              </a:rPr>
              <a:t> Inclusion Rigor: US residents aged 21–80, owning a compatible Android device paired with a continuous heart-rate tracking wearable, with confirmed compliance on fasting blood draws.</a:t>
            </a:r>
            <a:endParaRPr lang="en-JO" sz="2000"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3027919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2556E-DE06-2535-A9ED-3AA8CC72D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</a:rPr>
              <a:t>Wearable Feature Space (Passive Physiological &amp; Behavioral Signals)</a:t>
            </a:r>
            <a:br>
              <a:rPr lang="en-US" sz="3400" b="1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graphicFrame>
        <p:nvGraphicFramePr>
          <p:cNvPr id="15" name="Content Placeholder 12">
            <a:extLst>
              <a:ext uri="{FF2B5EF4-FFF2-40B4-BE49-F238E27FC236}">
                <a16:creationId xmlns:a16="http://schemas.microsoft.com/office/drawing/2014/main" id="{00693F84-B6BB-2AA4-A928-10E333B561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912713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2269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1F6EF0-1457-A5E9-112E-D6B08D0E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13A0FD-467F-8ECF-6D39-42325EB3D7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275094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4197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E6F30C-EF8E-5BB2-FD1B-F26D2D5BA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endParaRPr lang="en-US" sz="3600">
              <a:solidFill>
                <a:schemeClr val="tx2"/>
              </a:solidFill>
            </a:endParaRPr>
          </a:p>
        </p:txBody>
      </p:sp>
      <p:pic>
        <p:nvPicPr>
          <p:cNvPr id="18" name="Graphic 17" descr="Moon and stars">
            <a:extLst>
              <a:ext uri="{FF2B5EF4-FFF2-40B4-BE49-F238E27FC236}">
                <a16:creationId xmlns:a16="http://schemas.microsoft.com/office/drawing/2014/main" id="{6453D6E6-7494-0FE4-4AFF-1B4D769C3D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917CC-E5E5-D29A-DCEC-4D47D2675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 rtl="1">
              <a:buNone/>
            </a:pPr>
            <a:r>
              <a:rPr lang="en-US" sz="1800" b="1">
                <a:solidFill>
                  <a:schemeClr val="tx2"/>
                </a:solidFill>
                <a:latin typeface="Google Sans Text"/>
              </a:rPr>
              <a:t>3. Sleep Architecture</a:t>
            </a:r>
            <a:endParaRPr lang="en-US" sz="1800" b="1">
              <a:solidFill>
                <a:schemeClr val="tx2"/>
              </a:solidFill>
              <a:latin typeface="Google Sans"/>
            </a:endParaRPr>
          </a:p>
          <a:p>
            <a:pPr marL="0" indent="0" rtl="1">
              <a:buNone/>
            </a:pPr>
            <a:r>
              <a:rPr lang="en-US" sz="1800" b="1">
                <a:solidFill>
                  <a:schemeClr val="tx2"/>
                </a:solidFill>
                <a:latin typeface="Google Sans Text"/>
              </a:rPr>
              <a:t>Duration:</a:t>
            </a:r>
            <a:r>
              <a:rPr lang="en-US" sz="1800">
                <a:solidFill>
                  <a:schemeClr val="tx2"/>
                </a:solidFill>
                <a:latin typeface="Google Sans Text"/>
              </a:rPr>
              <a:t> Total hours of sleep per night.</a:t>
            </a:r>
          </a:p>
          <a:p>
            <a:pPr marL="0" indent="0" rtl="1">
              <a:buNone/>
            </a:pPr>
            <a:r>
              <a:rPr lang="en-US" sz="1800" b="1">
                <a:solidFill>
                  <a:schemeClr val="tx2"/>
                </a:solidFill>
                <a:latin typeface="Google Sans Text"/>
              </a:rPr>
              <a:t>Sleep Stages:</a:t>
            </a:r>
            <a:r>
              <a:rPr lang="en-US" sz="1800">
                <a:solidFill>
                  <a:schemeClr val="tx2"/>
                </a:solidFill>
                <a:latin typeface="Google Sans Text"/>
              </a:rPr>
              <a:t> Tracks light, deep, and REM sleep cycles.</a:t>
            </a:r>
          </a:p>
          <a:p>
            <a:pPr marL="0" indent="0" rtl="1">
              <a:buNone/>
            </a:pPr>
            <a:r>
              <a:rPr lang="en-US" sz="1800" b="1">
                <a:solidFill>
                  <a:schemeClr val="tx2"/>
                </a:solidFill>
                <a:latin typeface="Google Sans Text"/>
              </a:rPr>
              <a:t>Sleep Fragmentation:</a:t>
            </a:r>
            <a:r>
              <a:rPr lang="en-US" sz="1800">
                <a:solidFill>
                  <a:schemeClr val="tx2"/>
                </a:solidFill>
                <a:latin typeface="Google Sans Text"/>
              </a:rPr>
              <a:t> Monitors disturbances and waking episodes during sleep.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9458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978271F-6153-862A-D13D-7E9AFC9299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08" r="45017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483F28-24AA-11FD-F759-C70DA4E90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4D7D5-9A04-2FEE-6A99-AC4AF47F8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0" indent="0" rtl="1">
              <a:buNone/>
            </a:pPr>
            <a:r>
              <a:rPr lang="en-US" sz="2000" b="1">
                <a:latin typeface="Google Sans Text"/>
              </a:rPr>
              <a:t>4. Circadian Dynamics</a:t>
            </a:r>
            <a:endParaRPr lang="en-US" sz="2000" b="1">
              <a:latin typeface="Google Sans"/>
            </a:endParaRPr>
          </a:p>
          <a:p>
            <a:pPr marL="0" indent="0" rtl="1">
              <a:buNone/>
            </a:pPr>
            <a:r>
              <a:rPr lang="en-US" sz="2000" b="1">
                <a:latin typeface="Google Sans Text"/>
              </a:rPr>
              <a:t>24-Hour Temporal Patterns:</a:t>
            </a:r>
            <a:r>
              <a:rPr lang="en-US" sz="2000">
                <a:latin typeface="Google Sans Text"/>
              </a:rPr>
              <a:t> Analyzes the natural daily rhythm of physical activity and physiological changes over a 24-hour cycle.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618686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35174-D7C3-0B52-5315-17C8F6B4B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/>
              <a:t>Rationale: These signals reflect subtle, chronic autonomic disruptions caused by underlying metabolic dysfunction long before glucose levels spike.</a:t>
            </a:r>
          </a:p>
        </p:txBody>
      </p:sp>
    </p:spTree>
    <p:extLst>
      <p:ext uri="{BB962C8B-B14F-4D97-AF65-F5344CB8AC3E}">
        <p14:creationId xmlns:p14="http://schemas.microsoft.com/office/powerpoint/2010/main" val="416506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632CA-521A-18FF-1CC3-C881AE58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2000">
                <a:solidFill>
                  <a:srgbClr val="FFFFFF"/>
                </a:solidFill>
              </a:rPr>
              <a:t>Multimodal AI Pipeline &amp; Architecture</a:t>
            </a:r>
            <a:br>
              <a:rPr lang="ar-JO" sz="2000">
                <a:solidFill>
                  <a:srgbClr val="FFFFFF"/>
                </a:solidFill>
              </a:rPr>
            </a:br>
            <a:r>
              <a:rPr lang="en-US" sz="2000" i="1">
                <a:solidFill>
                  <a:srgbClr val="FFFFFF"/>
                </a:solidFill>
              </a:rPr>
              <a:t>Deep Representation Learning Framework</a:t>
            </a:r>
            <a:br>
              <a:rPr lang="en-US" sz="2000">
                <a:solidFill>
                  <a:srgbClr val="FFFFFF"/>
                </a:solidFill>
              </a:rPr>
            </a:br>
            <a:endParaRPr lang="en-US" sz="2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D99B94-A532-C7C4-CE68-0E2EDA293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674077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7831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56BDB-F702-7452-85B2-A45FF111D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943D3E-2FE2-CBC9-60C5-EDAEEDE482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935188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310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6DD7EB-DD48-A505-24D2-07F9A5D3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1A63B5CC-9710-4C9B-FAE7-E3AF43962F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096028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0660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186FB-CF23-D758-1325-982DE71F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B2789C-37CD-0B05-7568-97DADD3970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62816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0944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3D672F-4403-B07C-21D4-C6297606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2300">
                <a:solidFill>
                  <a:schemeClr val="tx2"/>
                </a:solidFill>
              </a:rPr>
              <a:t>Key Feature Associations</a:t>
            </a:r>
            <a:br>
              <a:rPr lang="ar-JO" sz="2300">
                <a:solidFill>
                  <a:schemeClr val="tx2"/>
                </a:solidFill>
              </a:rPr>
            </a:br>
            <a:r>
              <a:rPr lang="en-US" sz="2300">
                <a:solidFill>
                  <a:schemeClr val="tx2"/>
                </a:solidFill>
              </a:rPr>
              <a:t>Physiological &amp; Biomarker Correlations with Insulin Resistance (IR)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2A182D1D-4314-2386-A240-0B0E8E960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Laboratory &amp; Anthropometric Biomarkers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</a:rPr>
              <a:t>Positive Correlation </a:t>
            </a:r>
            <a:r>
              <a:rPr lang="en-US" sz="1800">
                <a:solidFill>
                  <a:schemeClr val="tx2"/>
                </a:solidFill>
              </a:rPr>
              <a:t>Fasting Glucose, BMI, Triglycerides, HbA1c (Higher levels align with severe Insulin Resistance).</a:t>
            </a:r>
          </a:p>
          <a:p>
            <a:r>
              <a:rPr lang="en-US" sz="1800" b="1">
                <a:solidFill>
                  <a:schemeClr val="tx2"/>
                </a:solidFill>
              </a:rPr>
              <a:t>Negative Correlation </a:t>
            </a:r>
            <a:r>
              <a:rPr lang="en-US" sz="1800">
                <a:solidFill>
                  <a:schemeClr val="tx2"/>
                </a:solidFill>
              </a:rPr>
              <a:t>HDL Cholesterol (Good cholesterol drops as IR worsens).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Needle">
            <a:extLst>
              <a:ext uri="{FF2B5EF4-FFF2-40B4-BE49-F238E27FC236}">
                <a16:creationId xmlns:a16="http://schemas.microsoft.com/office/drawing/2014/main" id="{36355C3B-656A-FA79-3299-793922EA9B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940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3EC8C-C94C-92EF-AF38-FAC1361A6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anchor="t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Wearable Physiological Signals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</a:rPr>
              <a:t>Positive Correlation:</a:t>
            </a:r>
            <a:r>
              <a:rPr lang="en-US" sz="1800">
                <a:solidFill>
                  <a:schemeClr val="tx2"/>
                </a:solidFill>
              </a:rPr>
              <a:t> Continuous Resting Heart Rate (RHR) increases with metabolic stress.</a:t>
            </a:r>
          </a:p>
          <a:p>
            <a:r>
              <a:rPr lang="en-US" sz="1800" b="1">
                <a:solidFill>
                  <a:schemeClr val="tx2"/>
                </a:solidFill>
              </a:rPr>
              <a:t>Negative Correlation:</a:t>
            </a:r>
            <a:r>
              <a:rPr lang="en-US" sz="1800">
                <a:solidFill>
                  <a:schemeClr val="tx2"/>
                </a:solidFill>
              </a:rPr>
              <a:t> Daily Step Count and Heart Rate Variability (HRV) decrease, indicating lower physical activity and autonomic dysfunction.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Heart with Pulse">
            <a:extLst>
              <a:ext uri="{FF2B5EF4-FFF2-40B4-BE49-F238E27FC236}">
                <a16:creationId xmlns:a16="http://schemas.microsoft.com/office/drawing/2014/main" id="{D0760DE6-9905-CD2B-72C1-7C7A84566D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08392" y="1819656"/>
            <a:ext cx="4142232" cy="414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53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9687A-31B8-224B-C15B-39ED18D4E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067" y="1609355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Critical Interpretation</a:t>
            </a:r>
          </a:p>
          <a:p>
            <a:r>
              <a:rPr lang="en-US" sz="1800">
                <a:solidFill>
                  <a:schemeClr val="tx2"/>
                </a:solidFill>
              </a:rPr>
              <a:t>Wearable physiological biomarkers </a:t>
            </a:r>
            <a:r>
              <a:rPr lang="en-US" sz="1800" b="1">
                <a:solidFill>
                  <a:schemeClr val="tx2"/>
                </a:solidFill>
              </a:rPr>
              <a:t>mirror</a:t>
            </a:r>
            <a:r>
              <a:rPr lang="en-US" sz="1800">
                <a:solidFill>
                  <a:schemeClr val="tx2"/>
                </a:solidFill>
              </a:rPr>
              <a:t> traditional lab results. This proves that machine learning can successfully capture metabolic degradation using entirely </a:t>
            </a:r>
            <a:r>
              <a:rPr lang="en-US" sz="1800" b="1">
                <a:solidFill>
                  <a:schemeClr val="tx2"/>
                </a:solidFill>
              </a:rPr>
              <a:t>non-invasive sensors</a:t>
            </a:r>
            <a:r>
              <a:rPr lang="en-US" sz="1800">
                <a:solidFill>
                  <a:schemeClr val="tx2"/>
                </a:solidFill>
              </a:rPr>
              <a:t>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Test tubes">
            <a:extLst>
              <a:ext uri="{FF2B5EF4-FFF2-40B4-BE49-F238E27FC236}">
                <a16:creationId xmlns:a16="http://schemas.microsoft.com/office/drawing/2014/main" id="{5594DFC3-8482-1DF5-08A7-1B893899C4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88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3C4447C-A44E-4940-136C-96AE3E190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tx2"/>
                </a:solidFill>
              </a:rPr>
              <a:t>Primary Model Performance</a:t>
            </a:r>
            <a:br>
              <a:rPr lang="ar-JO" sz="3700">
                <a:solidFill>
                  <a:schemeClr val="tx2"/>
                </a:solidFill>
              </a:rPr>
            </a:br>
            <a:r>
              <a:rPr lang="en-US" sz="3700">
                <a:solidFill>
                  <a:schemeClr val="tx2"/>
                </a:solidFill>
              </a:rPr>
              <a:t>Discovery Cohort Results &amp; Explainable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ABD4B-66DC-F39E-BE99-B7EAF1722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Classification Performance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</a:rPr>
              <a:t>AUROC: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b="1">
                <a:solidFill>
                  <a:schemeClr val="tx2"/>
                </a:solidFill>
              </a:rPr>
              <a:t>0.80</a:t>
            </a:r>
            <a:r>
              <a:rPr lang="en-US" sz="1800">
                <a:solidFill>
                  <a:schemeClr val="tx2"/>
                </a:solidFill>
              </a:rPr>
              <a:t> (High discriminative power for Insulin Resistance).</a:t>
            </a:r>
          </a:p>
          <a:p>
            <a:r>
              <a:rPr lang="en-US" sz="1800" b="1">
                <a:solidFill>
                  <a:schemeClr val="tx2"/>
                </a:solidFill>
              </a:rPr>
              <a:t>Sensitivity: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b="1">
                <a:solidFill>
                  <a:schemeClr val="tx2"/>
                </a:solidFill>
              </a:rPr>
              <a:t>76%</a:t>
            </a:r>
            <a:r>
              <a:rPr lang="en-US" sz="1800">
                <a:solidFill>
                  <a:schemeClr val="tx2"/>
                </a:solidFill>
              </a:rPr>
              <a:t> (Accurately identifying individuals with IR).</a:t>
            </a:r>
          </a:p>
          <a:p>
            <a:r>
              <a:rPr lang="en-US" sz="1800" b="1">
                <a:solidFill>
                  <a:schemeClr val="tx2"/>
                </a:solidFill>
              </a:rPr>
              <a:t>Specificity: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b="1">
                <a:solidFill>
                  <a:schemeClr val="tx2"/>
                </a:solidFill>
              </a:rPr>
              <a:t>84%</a:t>
            </a:r>
            <a:r>
              <a:rPr lang="en-US" sz="1800">
                <a:solidFill>
                  <a:schemeClr val="tx2"/>
                </a:solidFill>
              </a:rPr>
              <a:t> (Minimizing false positives).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526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77B40-FC12-5E98-A42E-074CC2670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73" y="2534395"/>
            <a:ext cx="9833548" cy="2693976"/>
          </a:xfrm>
        </p:spPr>
        <p:txBody>
          <a:bodyPr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Explainable AI (XAI) Insight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</a:rPr>
              <a:t>SHAP Analysis:</a:t>
            </a:r>
            <a:r>
              <a:rPr lang="en-US" sz="1800">
                <a:solidFill>
                  <a:schemeClr val="tx2"/>
                </a:solidFill>
              </a:rPr>
              <a:t> Revealed a profound shift in how the model prioritizes data.</a:t>
            </a:r>
          </a:p>
          <a:p>
            <a:r>
              <a:rPr lang="en-US" sz="1800" b="1">
                <a:solidFill>
                  <a:schemeClr val="tx2"/>
                </a:solidFill>
              </a:rPr>
              <a:t>The Core Finding:</a:t>
            </a:r>
            <a:r>
              <a:rPr lang="en-US" sz="1800">
                <a:solidFill>
                  <a:schemeClr val="tx2"/>
                </a:solidFill>
              </a:rPr>
              <a:t> In baseline models, the system favored static clinical lab data. However, introducing </a:t>
            </a:r>
            <a:r>
              <a:rPr lang="en-US" sz="1800" b="1">
                <a:solidFill>
                  <a:schemeClr val="tx2"/>
                </a:solidFill>
              </a:rPr>
              <a:t>WFM embeddings</a:t>
            </a:r>
            <a:r>
              <a:rPr lang="en-US" sz="1800">
                <a:solidFill>
                  <a:schemeClr val="tx2"/>
                </a:solidFill>
              </a:rPr>
              <a:t> boosted the model's feature reliance on wearable data from </a:t>
            </a:r>
            <a:r>
              <a:rPr lang="en-US" sz="1800" b="1">
                <a:solidFill>
                  <a:schemeClr val="tx2"/>
                </a:solidFill>
              </a:rPr>
              <a:t>43% to 82%</a:t>
            </a:r>
            <a:r>
              <a:rPr lang="en-US" sz="1800">
                <a:solidFill>
                  <a:schemeClr val="tx2"/>
                </a:solidFill>
              </a:rPr>
              <a:t>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6495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eart Lock">
            <a:extLst>
              <a:ext uri="{FF2B5EF4-FFF2-40B4-BE49-F238E27FC236}">
                <a16:creationId xmlns:a16="http://schemas.microsoft.com/office/drawing/2014/main" id="{62AD4F01-7948-552F-BDA5-62D6E53C07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4DE1C80-35B1-D570-7730-5ECC8FE5E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Core Takeaway</a:t>
            </a:r>
          </a:p>
          <a:p>
            <a:r>
              <a:rPr lang="en-US" sz="1800">
                <a:solidFill>
                  <a:schemeClr val="tx2"/>
                </a:solidFill>
              </a:rPr>
              <a:t>The </a:t>
            </a:r>
            <a:r>
              <a:rPr lang="en-US" sz="1800" b="1">
                <a:solidFill>
                  <a:schemeClr val="tx2"/>
                </a:solidFill>
              </a:rPr>
              <a:t>WFM (Wearable Foundation Model)</a:t>
            </a:r>
            <a:r>
              <a:rPr lang="en-US" sz="1800">
                <a:solidFill>
                  <a:schemeClr val="tx2"/>
                </a:solidFill>
              </a:rPr>
              <a:t> successfully unlocks hidden, non-linear temporal patterns within wearable data that traditional statistical averages (like mean heart rate) completely miss.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0124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922EA3-12EE-2032-45E4-836EE9D13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500">
                <a:solidFill>
                  <a:srgbClr val="FFFFFF"/>
                </a:solidFill>
              </a:rPr>
              <a:t>Robustness &amp; Independent Validation</a:t>
            </a:r>
            <a:br>
              <a:rPr lang="ar-JO" sz="2500">
                <a:solidFill>
                  <a:srgbClr val="FFFFFF"/>
                </a:solidFill>
              </a:rPr>
            </a:br>
            <a:r>
              <a:rPr lang="en-US" sz="2500">
                <a:solidFill>
                  <a:srgbClr val="FFFFFF"/>
                </a:solidFill>
              </a:rPr>
              <a:t>Generalizability on Unseen Populations &amp; Newer Wearables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604E3F-3628-D443-28A5-B5046CCF6B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85314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7352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3" name="Content Placeholder 2">
            <a:extLst>
              <a:ext uri="{FF2B5EF4-FFF2-40B4-BE49-F238E27FC236}">
                <a16:creationId xmlns:a16="http://schemas.microsoft.com/office/drawing/2014/main" id="{2FF8BFB8-9892-9E55-981B-95CCD60883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574654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2165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26E3B72F-8B75-634B-815E-2E8452D26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Clinical Screening Utility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Tuned at an operational threshold (</a:t>
            </a:r>
            <a:r>
              <a:rPr lang="en-US" sz="1800" b="1">
                <a:solidFill>
                  <a:schemeClr val="tx2"/>
                </a:solidFill>
              </a:rPr>
              <a:t>HOMA-IR &gt; 2.5</a:t>
            </a:r>
            <a:r>
              <a:rPr lang="en-US" sz="1800">
                <a:solidFill>
                  <a:schemeClr val="tx2"/>
                </a:solidFill>
              </a:rPr>
              <a:t>):</a:t>
            </a:r>
          </a:p>
          <a:p>
            <a:pPr lvl="1"/>
            <a:r>
              <a:rPr lang="en-US" sz="1800" b="1">
                <a:solidFill>
                  <a:schemeClr val="tx2"/>
                </a:solidFill>
              </a:rPr>
              <a:t>Sensitivity: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b="1">
                <a:solidFill>
                  <a:schemeClr val="tx2"/>
                </a:solidFill>
              </a:rPr>
              <a:t>82%</a:t>
            </a:r>
            <a:endParaRPr lang="en-US" sz="1800">
              <a:solidFill>
                <a:schemeClr val="tx2"/>
              </a:solidFill>
            </a:endParaRPr>
          </a:p>
          <a:p>
            <a:pPr lvl="1"/>
            <a:r>
              <a:rPr lang="en-US" sz="1800" b="1">
                <a:solidFill>
                  <a:schemeClr val="tx2"/>
                </a:solidFill>
              </a:rPr>
              <a:t>Specificity:</a:t>
            </a:r>
            <a:r>
              <a:rPr lang="en-US" sz="1800">
                <a:solidFill>
                  <a:schemeClr val="tx2"/>
                </a:solidFill>
              </a:rPr>
              <a:t> </a:t>
            </a:r>
            <a:r>
              <a:rPr lang="en-US" sz="1800" b="1">
                <a:solidFill>
                  <a:schemeClr val="tx2"/>
                </a:solidFill>
              </a:rPr>
              <a:t>78%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</a:rPr>
              <a:t>The Verdict:</a:t>
            </a:r>
            <a:r>
              <a:rPr lang="en-US" sz="1800">
                <a:solidFill>
                  <a:schemeClr val="tx2"/>
                </a:solidFill>
              </a:rPr>
              <a:t> Vastly outperforms traditional clinical screening proxies, such as using </a:t>
            </a:r>
            <a:r>
              <a:rPr lang="en-US" sz="1800" b="1">
                <a:solidFill>
                  <a:schemeClr val="tx2"/>
                </a:solidFill>
              </a:rPr>
              <a:t>BMI alone</a:t>
            </a:r>
            <a:r>
              <a:rPr lang="en-US" sz="1800">
                <a:solidFill>
                  <a:schemeClr val="tx2"/>
                </a:solidFill>
              </a:rPr>
              <a:t>.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7" name="Graphic 46" descr="Optical disc">
            <a:extLst>
              <a:ext uri="{FF2B5EF4-FFF2-40B4-BE49-F238E27FC236}">
                <a16:creationId xmlns:a16="http://schemas.microsoft.com/office/drawing/2014/main" id="{DF89C5AE-8BDF-A545-2503-3DCF34E7B3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820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2DF037-253D-D052-C647-2A332F74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Introduction to the WEAR-ME Framework</a:t>
            </a: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6504AABC-0663-27FE-EE04-152F0CF6E9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831F9-0100-7F2A-BEE8-B860AEF70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Leading the Future of Metabolic Health</a:t>
            </a:r>
          </a:p>
          <a:p>
            <a:pPr marL="0"/>
            <a:r>
              <a:rPr lang="en-US" sz="1800" b="1">
                <a:solidFill>
                  <a:schemeClr val="tx2"/>
                </a:solidFill>
              </a:rPr>
              <a:t>• The Clinical Challenge</a:t>
            </a:r>
            <a:r>
              <a:rPr lang="en-US" sz="1800">
                <a:solidFill>
                  <a:schemeClr val="tx2"/>
                </a:solidFill>
              </a:rPr>
              <a:t>: Insulin Resistance (IR) affects up to 40% of the population, yet diagnostics are highly invasive.</a:t>
            </a:r>
          </a:p>
          <a:p>
            <a:pPr marL="0"/>
            <a:r>
              <a:rPr lang="en-US" sz="1800" b="1">
                <a:solidFill>
                  <a:schemeClr val="tx2"/>
                </a:solidFill>
              </a:rPr>
              <a:t>• The WEAR-ME Solution</a:t>
            </a:r>
            <a:r>
              <a:rPr lang="en-US" sz="1800">
                <a:solidFill>
                  <a:schemeClr val="tx2"/>
                </a:solidFill>
              </a:rPr>
              <a:t>: A cutting-edge, multi-modal AI framework that leverages everyday consumer wearables to screen for early metabolic risk.</a:t>
            </a:r>
          </a:p>
          <a:p>
            <a:pPr marL="0"/>
            <a:r>
              <a:rPr lang="en-US" sz="1800" b="1">
                <a:solidFill>
                  <a:schemeClr val="tx2"/>
                </a:solidFill>
              </a:rPr>
              <a:t>• Dual-Cohort Validation</a:t>
            </a:r>
            <a:r>
              <a:rPr lang="en-US" sz="1800">
                <a:solidFill>
                  <a:schemeClr val="tx2"/>
                </a:solidFill>
              </a:rPr>
              <a:t>: Trained on a remote cohort of 1,165 participants and validated on an independent, in-person cohort of 72 participants.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7109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1D9B3-9219-273C-4FB0-F85622E19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Powering Predictions with Wearable Foundation Models (WFM)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31BBE-90ED-66A9-2C23-0FD5838BA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Going Beyond Simple Step Counts</a:t>
            </a:r>
          </a:p>
          <a:p>
            <a:pPr marL="0"/>
            <a:r>
              <a:rPr lang="en-US" sz="2400" b="1" dirty="0"/>
              <a:t> Advanced Feature Extraction</a:t>
            </a:r>
            <a:r>
              <a:rPr lang="en-US" sz="2400" dirty="0"/>
              <a:t>: Traditional models rely on basic daily averages. WEAR-ME uses a Wearable Foundation Model (WFM).</a:t>
            </a:r>
          </a:p>
          <a:p>
            <a:pPr marL="0"/>
            <a:r>
              <a:rPr lang="en-US" sz="2400" b="1" dirty="0"/>
              <a:t>Massive Pre-training</a:t>
            </a:r>
            <a:r>
              <a:rPr lang="en-US" sz="2400" dirty="0"/>
              <a:t>: The WFM was trained on over 40 million hours of continuous sensor data from 1.4 million individuals.</a:t>
            </a:r>
          </a:p>
          <a:p>
            <a:pPr marL="0"/>
            <a:r>
              <a:rPr lang="en-US" sz="2400" b="1" dirty="0"/>
              <a:t>Capturing Hidden Signals</a:t>
            </a:r>
            <a:r>
              <a:rPr lang="en-US" sz="2400" dirty="0"/>
              <a:t>: Unlocks high-resolution physiological data, detecting subtle variations in HRV, circadian rhythms, and micro-patterns of activity.</a:t>
            </a:r>
          </a:p>
        </p:txBody>
      </p:sp>
    </p:spTree>
    <p:extLst>
      <p:ext uri="{BB962C8B-B14F-4D97-AF65-F5344CB8AC3E}">
        <p14:creationId xmlns:p14="http://schemas.microsoft.com/office/powerpoint/2010/main" val="4355509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B228B-1E9A-45CC-1B0C-3F8731EA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Diagnostic Performance Boost (AUROC Breakthroughs)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A1856-3E7B-A815-BAE0-5C628E462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300" b="1" dirty="0"/>
              <a:t>Wearables as a Diagnostic Game-Changer</a:t>
            </a:r>
          </a:p>
          <a:p>
            <a:pPr marL="0"/>
            <a:r>
              <a:rPr lang="en-US" sz="2300" b="1" dirty="0"/>
              <a:t>HOMA-IR Prediction</a:t>
            </a:r>
            <a:r>
              <a:rPr lang="en-US" sz="2300" dirty="0"/>
              <a:t>: The primary objective was predicting insulin resistance based on a HOMA-IR threshold of 2.9.</a:t>
            </a:r>
          </a:p>
          <a:p>
            <a:pPr marL="0"/>
            <a:r>
              <a:rPr lang="en-US" sz="2300" b="1" dirty="0"/>
              <a:t>Demographics Only</a:t>
            </a:r>
            <a:r>
              <a:rPr lang="en-US" sz="2300" dirty="0"/>
              <a:t>: AUROC increased from 0.66 to 0.75 when adding WFM data.</a:t>
            </a:r>
          </a:p>
          <a:p>
            <a:pPr marL="0"/>
            <a:r>
              <a:rPr lang="en-US" sz="2300" b="1" dirty="0"/>
              <a:t>Full Clinical Panel</a:t>
            </a:r>
            <a:r>
              <a:rPr lang="en-US" sz="2300" dirty="0"/>
              <a:t>: AUROC jumped from 0.76 to a powerful 0.88 when enhanced by the WFM.</a:t>
            </a:r>
          </a:p>
          <a:p>
            <a:pPr marL="0"/>
            <a:r>
              <a:rPr lang="en-US" sz="2300" b="1" dirty="0"/>
              <a:t>The Core Shift</a:t>
            </a:r>
            <a:r>
              <a:rPr lang="en-US" sz="2300" dirty="0"/>
              <a:t>: Wearable data's feature importance skyrocketed from 43% to 82% under the WFM, proving its immense diagnostic value.</a:t>
            </a:r>
          </a:p>
        </p:txBody>
      </p:sp>
    </p:spTree>
    <p:extLst>
      <p:ext uri="{BB962C8B-B14F-4D97-AF65-F5344CB8AC3E}">
        <p14:creationId xmlns:p14="http://schemas.microsoft.com/office/powerpoint/2010/main" val="549055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E51CC0-683D-1755-1E9D-D0EB1218F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IR Agent – LLM Integration for Patient Care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1FB33-3798-EE33-4854-66258464E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200" b="1" dirty="0"/>
              <a:t>InsightsTranslating Data into Actionable </a:t>
            </a:r>
          </a:p>
          <a:p>
            <a:r>
              <a:rPr lang="en-US" sz="2200" dirty="0"/>
              <a:t> The ReAct Architecture: Integrates a Reasoning and Acting (ReAct) LLM Agent to bridge complex AI predictions and patient communication.</a:t>
            </a:r>
          </a:p>
          <a:p>
            <a:r>
              <a:rPr lang="en-US" sz="2200" dirty="0"/>
              <a:t> </a:t>
            </a:r>
            <a:r>
              <a:rPr lang="en-US" sz="2200" b="1" dirty="0"/>
              <a:t>Powered by Gemini 2.0 Flash</a:t>
            </a:r>
            <a:r>
              <a:rPr lang="en-US" sz="2200" dirty="0"/>
              <a:t>: Utilizes the open-source OneTwo library to seamlessly process multimodal inputs.</a:t>
            </a:r>
          </a:p>
          <a:p>
            <a:r>
              <a:rPr lang="en-US" sz="2200" b="1" dirty="0"/>
              <a:t> Clinical Capabilities</a:t>
            </a:r>
            <a:r>
              <a:rPr lang="en-US" sz="2200" dirty="0"/>
              <a:t>: Interprets complex metabolic risk scores, answers follow-up health questions, and delivers personalized lifestyle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5716069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19344-9C91-AC6D-CAC3-63344A336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Expert Clinical Validation &amp; Safety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93B14-0D28-5751-59FA-BC9551D27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/>
              <a:t>Built to Physician Standards</a:t>
            </a:r>
          </a:p>
          <a:p>
            <a:r>
              <a:rPr lang="en-US" sz="2300" b="1" dirty="0"/>
              <a:t>Blinded Evaluation</a:t>
            </a:r>
            <a:r>
              <a:rPr lang="en-US" sz="2300" dirty="0"/>
              <a:t>: Five board-certified endocrinologists conducted rigorous evaluations comparing the IR Agent against baseline LLMs.</a:t>
            </a:r>
          </a:p>
          <a:p>
            <a:r>
              <a:rPr lang="en-US" sz="2300" b="1" dirty="0"/>
              <a:t>Expert Preferences (IR Agent vs. Baseline)</a:t>
            </a:r>
            <a:r>
              <a:rPr lang="en-US" sz="2300" dirty="0"/>
              <a:t>: Won 80% on Comprehensiveness, 92% on Trustworthiness, and 73.3% on Personalization.</a:t>
            </a:r>
          </a:p>
          <a:p>
            <a:r>
              <a:rPr lang="en-US" sz="2300" dirty="0"/>
              <a:t> </a:t>
            </a:r>
            <a:r>
              <a:rPr lang="en-US" sz="2300" b="1" dirty="0"/>
              <a:t>Uncompromising Safety</a:t>
            </a:r>
            <a:r>
              <a:rPr lang="en-US" sz="2300" dirty="0"/>
              <a:t>: Achieved a remarkable 96% clinical safety rating for safe, tailored metabolic health guidance.</a:t>
            </a:r>
          </a:p>
        </p:txBody>
      </p:sp>
    </p:spTree>
    <p:extLst>
      <p:ext uri="{BB962C8B-B14F-4D97-AF65-F5344CB8AC3E}">
        <p14:creationId xmlns:p14="http://schemas.microsoft.com/office/powerpoint/2010/main" val="1090622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D92356-0DCA-4762-48F4-85081EA6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This is Just the Beginning... ??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DE0B8-913A-DA93-54F2-7E12A88A7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Moving from Project 1 to Project 2</a:t>
            </a:r>
          </a:p>
          <a:p>
            <a:r>
              <a:rPr lang="en-US" sz="2400" dirty="0"/>
              <a:t> Project 1 Goal Achieved: We fully analyzed and understood how this advanced AI model works.</a:t>
            </a:r>
          </a:p>
          <a:p>
            <a:r>
              <a:rPr lang="en-US" sz="2400" dirty="0"/>
              <a:t> </a:t>
            </a:r>
            <a:r>
              <a:rPr lang="en-US" sz="2400" b="1" dirty="0"/>
              <a:t>The Blueprint is Ready</a:t>
            </a:r>
            <a:r>
              <a:rPr lang="en-US" sz="2400" dirty="0"/>
              <a:t>: This isn't the final result; it is the strong foundation we built upon.</a:t>
            </a:r>
          </a:p>
          <a:p>
            <a:r>
              <a:rPr lang="en-US" sz="2400" dirty="0"/>
              <a:t> </a:t>
            </a:r>
            <a:r>
              <a:rPr lang="en-US" sz="2400" b="1" dirty="0"/>
              <a:t>Next Stop -&gt; Project 2</a:t>
            </a:r>
            <a:r>
              <a:rPr lang="en-US" sz="2400" dirty="0"/>
              <a:t>: We are moving from 'understanding the model' to 'hands-on development and optimization.'</a:t>
            </a:r>
          </a:p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600" b="1" dirty="0"/>
              <a:t>Stay Tuned... The exciting part is coming up next semester!</a:t>
            </a:r>
          </a:p>
        </p:txBody>
      </p:sp>
    </p:spTree>
    <p:extLst>
      <p:ext uri="{BB962C8B-B14F-4D97-AF65-F5344CB8AC3E}">
        <p14:creationId xmlns:p14="http://schemas.microsoft.com/office/powerpoint/2010/main" val="12517568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FC261-01FF-D53D-8791-7A6CAA15E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6312" y="1609355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4300" dirty="0">
                <a:solidFill>
                  <a:schemeClr val="tx2"/>
                </a:solidFill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E8CAD1E0-F1AE-F67D-79D4-393F99E9B6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38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  </vt:lpstr>
      <vt:lpstr>Clinical Background </vt:lpstr>
      <vt:lpstr>Limitations of Current Diagnostic Methods</vt:lpstr>
      <vt:lpstr>Scalable Multimodal AI Framework</vt:lpstr>
      <vt:lpstr>WEAR-ME Study Design &amp; Dataset</vt:lpstr>
      <vt:lpstr>Ground Truth &amp; Inclusion Criteria</vt:lpstr>
      <vt:lpstr>Wearable Feature Space (Passive Physiological &amp; Behavioral Signals) </vt:lpstr>
      <vt:lpstr>PowerPoint Presentation</vt:lpstr>
      <vt:lpstr>PowerPoint Presentation</vt:lpstr>
      <vt:lpstr>PowerPoint Presentation</vt:lpstr>
      <vt:lpstr>PowerPoint Presentation</vt:lpstr>
      <vt:lpstr>Multimodal AI Pipeline &amp; Architecture Deep Representation Learning Framework </vt:lpstr>
      <vt:lpstr>PowerPoint Presentation</vt:lpstr>
      <vt:lpstr>PowerPoint Presentation</vt:lpstr>
      <vt:lpstr>PowerPoint Presentation</vt:lpstr>
      <vt:lpstr>Key Feature Associations Physiological &amp; Biomarker Correlations with Insulin Resistance (IR)</vt:lpstr>
      <vt:lpstr>PowerPoint Presentation</vt:lpstr>
      <vt:lpstr>PowerPoint Presentation</vt:lpstr>
      <vt:lpstr>Primary Model Performance Discovery Cohort Results &amp; Explainable AI</vt:lpstr>
      <vt:lpstr>PowerPoint Presentation</vt:lpstr>
      <vt:lpstr>PowerPoint Presentation</vt:lpstr>
      <vt:lpstr>Robustness &amp; Independent Validation Generalizability on Unseen Populations &amp; Newer Wearables</vt:lpstr>
      <vt:lpstr>PowerPoint Presentation</vt:lpstr>
      <vt:lpstr>PowerPoint Presentation</vt:lpstr>
      <vt:lpstr>Introduction to the WEAR-ME Framework</vt:lpstr>
      <vt:lpstr>Powering Predictions with Wearable Foundation Models (WFM)</vt:lpstr>
      <vt:lpstr>Diagnostic Performance Boost (AUROC Breakthroughs)</vt:lpstr>
      <vt:lpstr>The IR Agent – LLM Integration for Patient Care</vt:lpstr>
      <vt:lpstr>Expert Clinical Validation &amp; Safety</vt:lpstr>
      <vt:lpstr>This is Just the Beginning... ??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مروى أيمن الرفايعة</dc:creator>
  <cp:lastModifiedBy>مروى أيمن الرفايعة</cp:lastModifiedBy>
  <cp:revision>2</cp:revision>
  <dcterms:created xsi:type="dcterms:W3CDTF">2026-06-02T10:24:13Z</dcterms:created>
  <dcterms:modified xsi:type="dcterms:W3CDTF">2026-06-20T18:07:02Z</dcterms:modified>
</cp:coreProperties>
</file>